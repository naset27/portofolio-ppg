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26679" y="960120"/>
            <a:ext cx="2057400" cy="4297680"/>
          </a:xfrm>
          <a:prstGeom prst="roundRect">
            <a:avLst/>
          </a:prstGeom>
          <a:solidFill>
            <a:srgbClr val="20304F"/>
          </a:solidFill>
          <a:ln w="12700">
            <a:solidFill>
              <a:srgbClr val="30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0456" y="1261872"/>
            <a:ext cx="1024128" cy="1024128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1536192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E1F0"/>
                </a:solidFill>
                <a:latin typeface="Inter"/>
              </a:rPr>
              <a:t>STOP</a:t>
            </a:r>
          </a:p>
        </p:txBody>
      </p:sp>
      <p:sp>
        <p:nvSpPr>
          <p:cNvPr id="5" name="Oval 4"/>
          <p:cNvSpPr/>
          <p:nvPr/>
        </p:nvSpPr>
        <p:spPr>
          <a:xfrm>
            <a:off x="8220456" y="2578608"/>
            <a:ext cx="1024128" cy="1024128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2852927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E1F0"/>
                </a:solidFill>
                <a:latin typeface="Inter"/>
              </a:rPr>
              <a:t>SIAP</a:t>
            </a:r>
          </a:p>
        </p:txBody>
      </p:sp>
      <p:sp>
        <p:nvSpPr>
          <p:cNvPr id="7" name="Oval 6"/>
          <p:cNvSpPr/>
          <p:nvPr/>
        </p:nvSpPr>
        <p:spPr>
          <a:xfrm>
            <a:off x="8220456" y="3895344"/>
            <a:ext cx="1024128" cy="1024128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4169663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E1F0"/>
                </a:solidFill>
                <a:latin typeface="Inter"/>
              </a:rPr>
              <a:t>JALAN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0" y="1463040"/>
            <a:ext cx="1142999" cy="0"/>
          </a:xfrm>
          <a:prstGeom prst="line">
            <a:avLst/>
          </a:prstGeom>
          <a:ln w="25400">
            <a:solidFill>
              <a:srgbClr val="24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0" y="3108960"/>
            <a:ext cx="1142999" cy="0"/>
          </a:xfrm>
          <a:prstGeom prst="line">
            <a:avLst/>
          </a:prstGeom>
          <a:ln w="25400">
            <a:solidFill>
              <a:srgbClr val="47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754880"/>
            <a:ext cx="1142999" cy="0"/>
          </a:xfrm>
          <a:prstGeom prst="line">
            <a:avLst/>
          </a:prstGeom>
          <a:ln w="25400">
            <a:solidFill>
              <a:srgbClr val="3CA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784080" y="1143000"/>
            <a:ext cx="1005840" cy="594360"/>
          </a:xfrm>
          <a:prstGeom prst="line">
            <a:avLst/>
          </a:prstGeom>
          <a:ln w="25400">
            <a:solidFill>
              <a:srgbClr val="EF6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784080" y="3108960"/>
            <a:ext cx="1371600" cy="0"/>
          </a:xfrm>
          <a:prstGeom prst="line">
            <a:avLst/>
          </a:prstGeom>
          <a:ln w="25400">
            <a:solidFill>
              <a:srgbClr val="F4B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84080" y="4389120"/>
            <a:ext cx="1005840" cy="685800"/>
          </a:xfrm>
          <a:prstGeom prst="line">
            <a:avLst/>
          </a:prstGeom>
          <a:ln w="25400">
            <a:solidFill>
              <a:srgbClr val="3CA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2" y="658368"/>
            <a:ext cx="2651760" cy="265176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99516"/>
            <a:ext cx="252374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1DDE5"/>
                </a:solidFill>
                <a:latin typeface="Inter"/>
              </a:rPr>
              <a:t>MODUL AJAR • KURIKULUM MERDEKA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170432"/>
            <a:ext cx="5989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Inter Display"/>
              </a:rPr>
              <a:t>Sistem Komputer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Inter Display"/>
              </a:rPr>
              <a:t>dan Simulasi Lampu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Inter Display"/>
              </a:rPr>
              <a:t>Lalu Lintas dengan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Inter Display"/>
              </a:rPr>
              <a:t>Arduino 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224528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D7EC"/>
                </a:solidFill>
                <a:latin typeface="Inter"/>
              </a:rPr>
              <a:t>Informatika • Kelas XII • Fase 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8" y="4736592"/>
            <a:ext cx="4416552" cy="0"/>
          </a:xfrm>
          <a:prstGeom prst="line">
            <a:avLst/>
          </a:prstGeom>
          <a:ln w="17780">
            <a:solidFill>
              <a:srgbClr val="3D4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9808" y="4965192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E1F0"/>
                </a:solidFill>
                <a:latin typeface="Inter"/>
              </a:rPr>
              <a:t>SMA Negeri Colomadu  |  Erwin Fajariansyah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34009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EB2D0"/>
                </a:solidFill>
                <a:latin typeface="Inter"/>
              </a:rPr>
              <a:t>PPG •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8064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EBFA"/>
                </a:solidFill>
                <a:latin typeface="Inter"/>
              </a:rPr>
              <a:t>RANCANG • PROGRAM • UJI • PERBAIKI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051560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923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ORIENTASI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Tujuan pembelajaran dan alur proyek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Capaian: memahami sistem komputer, hubungan input–proses–output, dan menerapkannya melalui pemrograman Arduino Uno di Wokwi.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356616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59436" cy="1444752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810512"/>
            <a:ext cx="32186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01  Pahami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86000"/>
            <a:ext cx="318211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Jelaskan hardware, software, brainware, Arduino Uno, dan hubungan I–P–O.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664208"/>
            <a:ext cx="356616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664208"/>
            <a:ext cx="59436" cy="1444752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810512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02  Bangun simulasi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286000"/>
            <a:ext cx="318211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Rangkai tiga LED dan program urutan merah–hijau–kuning.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664208"/>
            <a:ext cx="356616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664208"/>
            <a:ext cx="59436" cy="1444752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810512"/>
            <a:ext cx="32186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03  Kembangkan &amp; uji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286000"/>
            <a:ext cx="318211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Tambahkan tombol penyeberang, debugging, dan presentasikan hasil.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56432"/>
            <a:ext cx="1104595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75887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B8C7"/>
                </a:solidFill>
                <a:latin typeface="Inter"/>
              </a:rPr>
              <a:t>PETA 3 PERTEMUAN • PROJECT BASED LEARNING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224528"/>
            <a:ext cx="438912" cy="438912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19709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740"/>
                </a:solidFill>
                <a:latin typeface="Inter"/>
              </a:rPr>
              <a:t>PERTEMUAN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526280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Dasar sistem &amp; Arduino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3904" y="4279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AA8BC"/>
                </a:solidFill>
                <a:latin typeface="Inter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4526280" y="4224528"/>
            <a:ext cx="438912" cy="438912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343400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419709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740"/>
                </a:solidFill>
                <a:latin typeface="Inter"/>
              </a:rPr>
              <a:t>PERTEMUAN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11496" y="4526280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Rakit, program, debugging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5783" y="4279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AA8BC"/>
                </a:solidFill>
                <a:latin typeface="Inter"/>
              </a:rP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8138160" y="4224528"/>
            <a:ext cx="438912" cy="438912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343400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3376" y="419709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740"/>
                </a:solidFill>
                <a:latin typeface="Inter"/>
              </a:rPr>
              <a:t>PERTEMUAN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3376" y="4526280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Tombol, uji, presentasi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257800"/>
            <a:ext cx="9966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PjBL • Mindful, Meaningful, Joyful Learning • Experiential Learning • PSE–CASEL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829714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17016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1 • APERSEPSI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Bagaimana lampu lalu lintas bekerja otomatis?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Amati fenomena nyata, lalu hubungkan dengan cara sistem komputer menerima input dan menghasilkan output.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27632"/>
            <a:ext cx="4892040" cy="4443984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920240"/>
            <a:ext cx="2084831" cy="265176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61388"/>
            <a:ext cx="1956815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1DDE5"/>
                </a:solidFill>
                <a:latin typeface="Inter"/>
              </a:rPr>
              <a:t>PERTANYAAN PEMANTIK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114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Inter Display"/>
              </a:rPr>
              <a:t>Bagaimana lampu lalu lintas menyala bergantian tanpa petugas menekan saklar?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87952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D7EC"/>
                </a:solidFill>
                <a:latin typeface="Inter"/>
              </a:rPr>
              <a:t>Mengapa durasinya bisa berbeda? Bagaimana tombol penyeberang dapat mengubah lampu?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755648"/>
            <a:ext cx="546811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755648"/>
            <a:ext cx="59436" cy="1060704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08192" y="1911095"/>
            <a:ext cx="384048" cy="384048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988819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90195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Amati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377440"/>
            <a:ext cx="5084064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Lampu merah, kuning, dan hijau menyala pada waktu berbeda.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072384"/>
            <a:ext cx="546811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072384"/>
            <a:ext cx="59436" cy="1060704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08192" y="3227832"/>
            <a:ext cx="384048" cy="384048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2" y="330555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21868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Cari sistem pengendali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694176"/>
            <a:ext cx="5084064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Sebuah program menentukan urutan dan durasi setiap lampu.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389120"/>
            <a:ext cx="546811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4389120"/>
            <a:ext cx="59436" cy="1060704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08192" y="4544568"/>
            <a:ext cx="384048" cy="384048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192" y="4622292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535424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Buktikan di Wokwi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5010912"/>
            <a:ext cx="5084064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Buat prototipe virtual, jalankan, amati, dan perbaiki.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591055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146303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1 • KONSEP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Input – Proses – Output pada lampu lalu lintas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Setiap sistem komputasi menerima masukan, menjalankan proses, lalu menghasilkan keluaran.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011680"/>
            <a:ext cx="31821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240280"/>
            <a:ext cx="960120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281428"/>
            <a:ext cx="8321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779E8"/>
                </a:solidFill>
                <a:latin typeface="Inter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740"/>
                </a:solidFill>
                <a:latin typeface="Inter"/>
              </a:rPr>
              <a:t>Tombol penyeberang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19272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Sinyal yang dibaca sistem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926080"/>
            <a:ext cx="502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1A0B4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1144" y="2011680"/>
            <a:ext cx="31821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82312" y="2240280"/>
            <a:ext cx="960120" cy="265176"/>
          </a:xfrm>
          <a:prstGeom prst="roundRect">
            <a:avLst/>
          </a:prstGeom>
          <a:solidFill>
            <a:srgbClr val="F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281428"/>
            <a:ext cx="8321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72D9"/>
                </a:solidFill>
                <a:latin typeface="Inter"/>
              </a:rPr>
              <a:t>PROSES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7432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740"/>
                </a:solidFill>
                <a:latin typeface="Inter"/>
              </a:rPr>
              <a:t>Arduino Uno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319272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Menjalankan sketch dan logika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2926080"/>
            <a:ext cx="502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1A0B4"/>
                </a:solidFill>
                <a:latin typeface="Inte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03336" y="2011680"/>
            <a:ext cx="31821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04504" y="2240280"/>
            <a:ext cx="960120" cy="265176"/>
          </a:xfrm>
          <a:prstGeom prst="roundRect">
            <a:avLst/>
          </a:prstGeom>
          <a:solidFill>
            <a:srgbClr val="E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2281428"/>
            <a:ext cx="8321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CA77A"/>
                </a:solidFill>
                <a:latin typeface="Inter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27432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740"/>
                </a:solidFill>
                <a:latin typeface="Inter"/>
              </a:rPr>
              <a:t>LED merah, kuning, hijau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4504" y="3319272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Lampu menyala/padam sesuai urutan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" y="4736592"/>
            <a:ext cx="10634472" cy="86868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5102352"/>
            <a:ext cx="9912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4779E8"/>
                </a:solidFill>
                <a:latin typeface="Inter"/>
              </a:rPr>
              <a:t>PENTING  </a:t>
            </a:r>
            <a:r>
              <a:rPr sz="1300" b="0">
                <a:solidFill>
                  <a:srgbClr val="1A2740"/>
                </a:solidFill>
                <a:latin typeface="Inter"/>
              </a:rPr>
              <a:t>Kode dan rangkaian harus cocok. Input yang terbaca diproses Arduino lalu menghasilkan output yang terlihat.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591055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146303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1 • KONSEP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Sistem komputer: tiga komponen yang bekerja 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Sistem komputer merupakan kesatuan hardware, software, dan brainware untuk mengolah data menjadi informasi.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34564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59436" cy="2331720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65376"/>
            <a:ext cx="31089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740"/>
                </a:solidFill>
                <a:latin typeface="Inter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40864"/>
            <a:ext cx="307238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Komponen fisik yang dapat dilihat atau disentuh.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Contoh proyek: Arduino Uno, LED, resistor, tombol, kabel jumper.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19072"/>
            <a:ext cx="34564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19072"/>
            <a:ext cx="59436" cy="2331720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186537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740"/>
                </a:solidFill>
                <a:latin typeface="Inter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340864"/>
            <a:ext cx="307238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Program atau instruksi yang mengatur kerja perangkat.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Contoh proyek: sketch Arduino berisi setup() dan loop().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719072"/>
            <a:ext cx="34564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719072"/>
            <a:ext cx="59436" cy="2331720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865376"/>
            <a:ext cx="31089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740"/>
                </a:solidFill>
                <a:latin typeface="Inter"/>
              </a:rPr>
              <a:t>BRAINWARE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340864"/>
            <a:ext cx="307238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Manusia yang merancang, memprogram, menjalankan, dan mengevaluasi sistem.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498848"/>
            <a:ext cx="1086307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681728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B8C7"/>
                </a:solidFill>
                <a:latin typeface="Inter"/>
              </a:rPr>
              <a:t>CEK PEMAHAMAN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645152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740"/>
                </a:solidFill>
                <a:latin typeface="Inter"/>
              </a:rPr>
              <a:t>Arduino Uno termasuk apa? Program lampu lalu lintas termasuk apa? Siapa yang memeriksa hasil simulasi?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750161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1622145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1 • KOMPONEN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Arduino Uno dan Wokwi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Arduino Uno adalah papan mikrokontroler; Wokwi memungkinkan rangkaian dan program diuji secara virtual.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4389120" cy="3520440"/>
          </a:xfrm>
          <a:prstGeom prst="roundRect">
            <a:avLst/>
          </a:prstGeom>
          <a:solidFill>
            <a:srgbClr val="E7F4EE"/>
          </a:solidFill>
          <a:ln w="12700">
            <a:solidFill>
              <a:srgbClr val="B6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2240280"/>
            <a:ext cx="3566160" cy="2487168"/>
          </a:xfrm>
          <a:prstGeom prst="roundRect">
            <a:avLst/>
          </a:prstGeom>
          <a:solidFill>
            <a:srgbClr val="3B9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57400" y="2834640"/>
            <a:ext cx="1600200" cy="1234440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27355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ATmega328P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2450592"/>
            <a:ext cx="502920" cy="347472"/>
          </a:xfrm>
          <a:prstGeom prst="round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77639" y="2450592"/>
            <a:ext cx="457200" cy="347472"/>
          </a:xfrm>
          <a:prstGeom prst="round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0" y="4361688"/>
            <a:ext cx="118872" cy="118872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83080" y="4361688"/>
            <a:ext cx="118872" cy="118872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94560" y="4361688"/>
            <a:ext cx="118872" cy="118872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06040" y="4361688"/>
            <a:ext cx="118872" cy="118872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17520" y="4361688"/>
            <a:ext cx="118872" cy="118872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29000" y="4361688"/>
            <a:ext cx="118872" cy="118872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0480" y="4361688"/>
            <a:ext cx="118872" cy="118872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51960" y="4361688"/>
            <a:ext cx="118872" cy="118872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6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E6B80"/>
                </a:solidFill>
                <a:latin typeface="Inter"/>
              </a:rPr>
              <a:t>Ilustrasi papan mikrokontroler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1737360"/>
            <a:ext cx="5669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840" y="1737360"/>
            <a:ext cx="59436" cy="1097280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7" y="1883664"/>
            <a:ext cx="5321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Arduino Uno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7" y="2359152"/>
            <a:ext cx="528523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Pin digital dapat diatur sebagai INPUT atau OUTPUT untuk membaca tombol atau mengendalikan LED.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3054096"/>
            <a:ext cx="5669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77840" y="3054096"/>
            <a:ext cx="59436" cy="1097280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79007" y="3200400"/>
            <a:ext cx="5321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Wokwi Simulator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7" y="3675887"/>
            <a:ext cx="528523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Simulator berbasis web untuk merangkai dan menjalankan program Arduino tanpa perangkat fisik.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370832"/>
            <a:ext cx="5669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77840" y="4370832"/>
            <a:ext cx="59436" cy="1097280"/>
          </a:xfrm>
          <a:prstGeom prst="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79007" y="4517136"/>
            <a:ext cx="5321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Komponen awal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7" y="4992624"/>
            <a:ext cx="528523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Arduino Uno • LED • resistor 220 Ω • push button • kabel jumper.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988819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186080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1 • PEMROGRAMAN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Membaca struktur program Arduino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Sketch memiliki setup() yang berjalan sekali dan loop() yang dijalankan berulang.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5532120" cy="4069080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1828800"/>
            <a:ext cx="1152144" cy="265176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6994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DDE5"/>
                </a:solidFill>
                <a:latin typeface="Inter"/>
              </a:rPr>
              <a:t>CONTOH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21992"/>
            <a:ext cx="5148072" cy="3410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7EEF8"/>
                </a:solidFill>
                <a:latin typeface="DejaVu Sans Mono"/>
              </a:rPr>
              <a:t>void setup() {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7EEF8"/>
                </a:solidFill>
                <a:latin typeface="DejaVu Sans Mono"/>
              </a:rPr>
              <a:t>  pinMode(13, OUTPUT);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7EEF8"/>
                </a:solidFill>
                <a:latin typeface="DejaVu Sans Mono"/>
              </a:rPr>
              <a:t>}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7EEF8"/>
                </a:solidFill>
                <a:latin typeface="DejaVu Sans Mono"/>
              </a:rPr>
              <a:t>void loop() {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7EEF8"/>
                </a:solidFill>
                <a:latin typeface="DejaVu Sans Mono"/>
              </a:rPr>
              <a:t>  digitalWrite(13, HIGH);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7EEF8"/>
                </a:solidFill>
                <a:latin typeface="DejaVu Sans Mono"/>
              </a:rPr>
              <a:t>  delay(1000);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7EEF8"/>
                </a:solidFill>
                <a:latin typeface="DejaVu Sans Mono"/>
              </a:rPr>
              <a:t>  digitalWrite(13, LOW);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7EEF8"/>
                </a:solidFill>
                <a:latin typeface="DejaVu Sans Mono"/>
              </a:rPr>
              <a:t>  delay(1000);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DejaVu Sans Mono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737360"/>
            <a:ext cx="4800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737360"/>
            <a:ext cx="59436" cy="841248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1883664"/>
            <a:ext cx="4453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setup()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359152"/>
            <a:ext cx="441655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Dijalankan sekali saat Arduino mulai; atur pin di sini.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743200"/>
            <a:ext cx="4800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2743200"/>
            <a:ext cx="59436" cy="841248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889504"/>
            <a:ext cx="4453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loop()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3364992"/>
            <a:ext cx="441655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Perintah di dalamnya diulang terus-menerus.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3749039"/>
            <a:ext cx="4800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3749039"/>
            <a:ext cx="59436" cy="841248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895344"/>
            <a:ext cx="4453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pinMode() &amp; digitalWrite()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4370831"/>
            <a:ext cx="441655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Mengatur mode pin dan memberi sinyal HIGH/LOW.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754880"/>
            <a:ext cx="4800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4754880"/>
            <a:ext cx="59436" cy="841248"/>
          </a:xfrm>
          <a:prstGeom prst="rect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4901184"/>
            <a:ext cx="4453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delay(ms)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5376672"/>
            <a:ext cx="441655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Menunda program; 1000 ms = 1 detik.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2147925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201990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1 • PRAKTIK WOKWI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Praktik 1 • Membuat LED berkedip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Mulai dari satu output sebelum mengembangkan rangkaian menjadi tiga lampu.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55648"/>
            <a:ext cx="3310128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755648"/>
            <a:ext cx="59436" cy="1883664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11095"/>
            <a:ext cx="384048" cy="384048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88819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01952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Tambahkan komponen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77440"/>
            <a:ext cx="292608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Arduino Uno dan satu LED dengan resistor.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1755648"/>
            <a:ext cx="3310128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9704" y="1755648"/>
            <a:ext cx="59436" cy="1883664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54296" y="1911095"/>
            <a:ext cx="384048" cy="384048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4296" y="1988819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1901952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Hubungkan rangkaian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377440"/>
            <a:ext cx="292608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Anoda LED ke pin digital; katoda ke GND melalui rangkaian yang benar.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6175" y="1755648"/>
            <a:ext cx="3310128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66175" y="1755648"/>
            <a:ext cx="59436" cy="1883664"/>
          </a:xfrm>
          <a:prstGeom prst="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7" y="1911095"/>
            <a:ext cx="384048" cy="384048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7" y="1988819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1901952"/>
            <a:ext cx="25054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Jalankan program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2377440"/>
            <a:ext cx="292608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LED menyala 1 detik lalu padam 1 detik secara berulang.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096512"/>
            <a:ext cx="10899648" cy="1325880"/>
          </a:xfrm>
          <a:prstGeom prst="roundRect">
            <a:avLst/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2511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6B00"/>
                </a:solidFill>
                <a:latin typeface="Inter"/>
              </a:rPr>
              <a:t>TANTANGAN LKPD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645152"/>
            <a:ext cx="10149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Ubah delay menjadi 300 ms. Apa yang berubah pada kedipan LED? Catat hasil pengamatan dan jelaskan dengan kata-katamu sendiri.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2386584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2258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1 • RANCANGAN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Rancangan rangkaian lampu lalu lintas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Gunakan tiga LED dan pastikan pin pada program sama dengan pin pada rangkaian.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1828800" cy="4251960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07592" y="1965960"/>
            <a:ext cx="804672" cy="804672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1945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740"/>
                </a:solidFill>
                <a:latin typeface="Inter"/>
              </a:rPr>
              <a:t>MERAH</a:t>
            </a:r>
          </a:p>
        </p:txBody>
      </p:sp>
      <p:sp>
        <p:nvSpPr>
          <p:cNvPr id="12" name="Oval 11"/>
          <p:cNvSpPr/>
          <p:nvPr/>
        </p:nvSpPr>
        <p:spPr>
          <a:xfrm>
            <a:off x="1307592" y="3218688"/>
            <a:ext cx="804672" cy="804672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344728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740"/>
                </a:solidFill>
                <a:latin typeface="Inter"/>
              </a:rPr>
              <a:t>KUNING</a:t>
            </a:r>
          </a:p>
        </p:txBody>
      </p:sp>
      <p:sp>
        <p:nvSpPr>
          <p:cNvPr id="14" name="Oval 13"/>
          <p:cNvSpPr/>
          <p:nvPr/>
        </p:nvSpPr>
        <p:spPr>
          <a:xfrm>
            <a:off x="1307592" y="4471416"/>
            <a:ext cx="804672" cy="804672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47000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740"/>
                </a:solidFill>
                <a:latin typeface="Inter"/>
              </a:rPr>
              <a:t>HIJAU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700784"/>
            <a:ext cx="331012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700784"/>
            <a:ext cx="59436" cy="1243584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847088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LED merah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322576"/>
            <a:ext cx="2926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Anoda → pin 13 melalui resistor 220 Ω; katoda → GND.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136392"/>
            <a:ext cx="331012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3136392"/>
            <a:ext cx="59436" cy="1243584"/>
          </a:xfrm>
          <a:prstGeom prst="rect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3282696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LED kuning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3758184"/>
            <a:ext cx="2926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Anoda → pin 12 melalui resistor 220 Ω; katoda → GND.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572000"/>
            <a:ext cx="331012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572000"/>
            <a:ext cx="59436" cy="1243584"/>
          </a:xfrm>
          <a:prstGeom prst="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4718304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LED hijau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5193792"/>
            <a:ext cx="2926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Anoda → pin 11 melalui resistor 220 Ω; katoda → GND.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737360"/>
            <a:ext cx="3474720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B8C7"/>
                </a:solidFill>
                <a:latin typeface="Inter"/>
              </a:rPr>
              <a:t>SEBELUM RUN</a:t>
            </a:r>
          </a:p>
        </p:txBody>
      </p:sp>
      <p:sp>
        <p:nvSpPr>
          <p:cNvPr id="30" name="Oval 29"/>
          <p:cNvSpPr/>
          <p:nvPr/>
        </p:nvSpPr>
        <p:spPr>
          <a:xfrm>
            <a:off x="8138160" y="2555748"/>
            <a:ext cx="82296" cy="82296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487168"/>
            <a:ext cx="2560320" cy="50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40"/>
                </a:solidFill>
                <a:latin typeface="Inter"/>
              </a:rPr>
              <a:t>Pastikan GND terhubung.</a:t>
            </a:r>
          </a:p>
        </p:txBody>
      </p:sp>
      <p:sp>
        <p:nvSpPr>
          <p:cNvPr id="32" name="Oval 31"/>
          <p:cNvSpPr/>
          <p:nvPr/>
        </p:nvSpPr>
        <p:spPr>
          <a:xfrm>
            <a:off x="8138160" y="3209544"/>
            <a:ext cx="82296" cy="82296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140964"/>
            <a:ext cx="2560320" cy="50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40"/>
                </a:solidFill>
                <a:latin typeface="Inter"/>
              </a:rPr>
              <a:t>Gunakan resistor 220 Ω pada setiap LED.</a:t>
            </a:r>
          </a:p>
        </p:txBody>
      </p:sp>
      <p:sp>
        <p:nvSpPr>
          <p:cNvPr id="34" name="Oval 33"/>
          <p:cNvSpPr/>
          <p:nvPr/>
        </p:nvSpPr>
        <p:spPr>
          <a:xfrm>
            <a:off x="8138160" y="3863340"/>
            <a:ext cx="82296" cy="82296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794760"/>
            <a:ext cx="2560320" cy="50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40"/>
                </a:solidFill>
                <a:latin typeface="Inter"/>
              </a:rPr>
              <a:t>Catat pin merah, kuning, dan hijau.</a:t>
            </a:r>
          </a:p>
        </p:txBody>
      </p:sp>
      <p:sp>
        <p:nvSpPr>
          <p:cNvPr id="36" name="Oval 35"/>
          <p:cNvSpPr/>
          <p:nvPr/>
        </p:nvSpPr>
        <p:spPr>
          <a:xfrm>
            <a:off x="8138160" y="4517136"/>
            <a:ext cx="82296" cy="82296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4448556"/>
            <a:ext cx="2560320" cy="50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40"/>
                </a:solidFill>
                <a:latin typeface="Inter"/>
              </a:rPr>
              <a:t>Periksa polaritas 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829714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17016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1 • ALGORITMA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Logika urutan lampu dan durasi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Program mengatur setiap lampu menyala sesuai urutan dan mematikan lampu sebelumnya.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38528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2267712"/>
            <a:ext cx="676656" cy="676656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7672" y="22128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740"/>
                </a:solidFill>
                <a:latin typeface="Inter"/>
              </a:rPr>
              <a:t>MERAH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70662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F6B67"/>
                </a:solidFill>
                <a:latin typeface="Inter"/>
              </a:rPr>
              <a:t>5 detik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7860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1A0B4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1938528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92040" y="2267712"/>
            <a:ext cx="676656" cy="676656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2128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740"/>
                </a:solidFill>
                <a:latin typeface="Inter"/>
              </a:rPr>
              <a:t>HIJAU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70662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A77A"/>
                </a:solidFill>
                <a:latin typeface="Inter"/>
              </a:rPr>
              <a:t>4 detik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57860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1A0B4"/>
                </a:solidFill>
                <a:latin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3336" y="1938528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59367" y="2267712"/>
            <a:ext cx="676656" cy="676656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22128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740"/>
                </a:solidFill>
                <a:latin typeface="Inter"/>
              </a:rPr>
              <a:t>KUNING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70662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B544"/>
                </a:solidFill>
                <a:latin typeface="Inter"/>
              </a:rPr>
              <a:t>2 detik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343400"/>
            <a:ext cx="10378440" cy="1051560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" y="4736592"/>
            <a:ext cx="959205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24B8C7"/>
                </a:solidFill>
                <a:latin typeface="Inter"/>
              </a:rPr>
              <a:t>ALGORITMA  </a:t>
            </a:r>
            <a:r>
              <a:rPr sz="1300" b="0">
                <a:solidFill>
                  <a:srgbClr val="1A2740"/>
                </a:solidFill>
                <a:latin typeface="Inter"/>
              </a:rPr>
              <a:t>nyalakan merah → padamkan merah → nyalakan hijau → padamkan hijau → nyalakan kuning → padamkan kuning → ulangi.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509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Gunakan satuan delay dalam milidetik: 5000 ms = 5 detik; 4000 ms = 4 detik; 2000 ms = 2 detik.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591055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146303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1–2 • KODE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Contoh sketch • Lampu lalu lintas 3 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Samakan nomor pin kode dengan pin pada rangkaian Wokwi.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6492240" cy="4526280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1783080"/>
            <a:ext cx="1152144" cy="265176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2422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DDE5"/>
                </a:solidFill>
                <a:latin typeface="Inter"/>
              </a:rPr>
              <a:t>ARDUINO SKETCH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76272"/>
            <a:ext cx="6108192" cy="386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const int MERAH = 13;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const int KUNING = 12;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const int HIJAU = 11;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void setup() {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  pinMode(MERAH, OUTPUT);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  pinMode(KUNING, OUTPUT);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  pinMode(HIJAU, OUTPUT);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}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void loop() {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  digitalWrite(MERAH, HIGH); delay(5000); digitalWrite(MERAH, LOW);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  digitalWrite(HIJAU, HIGH); delay(4000); digitalWrite(HIJAU, LOW);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  digitalWrite(KUNING, HIGH); delay(2000); digitalWrite(KUNING, LOW);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7EEF8"/>
                </a:solidFill>
                <a:latin typeface="DejaVu Sans Mono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9792" y="1737360"/>
            <a:ext cx="3840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79792" y="1737360"/>
            <a:ext cx="59436" cy="1097280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883664"/>
            <a:ext cx="34930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Konstanta pin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45643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Nama MERAH, KUNING, HIJAU membantu kode lebih mudah dibaca.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79792" y="3054096"/>
            <a:ext cx="3840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79792" y="3054096"/>
            <a:ext cx="59436" cy="1097280"/>
          </a:xfrm>
          <a:prstGeom prst="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200400"/>
            <a:ext cx="34930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HIGH / 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75887"/>
            <a:ext cx="345643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HIGH menyalakan LED; LOW memadamkannya.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4370832"/>
            <a:ext cx="3840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79792" y="4370832"/>
            <a:ext cx="59436" cy="1097280"/>
          </a:xfrm>
          <a:prstGeom prst="rect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4517136"/>
            <a:ext cx="34930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Perhatikan urutan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992624"/>
            <a:ext cx="345643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Pastikan lampu sebelumnya padam sebelum urutan selanjutnya.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2147925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201990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1 • DESAIN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PjBL • Rencanakan proyek sebelum merangkai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Kelompok heterogen berisi 3–4 orang. Bagi peran dan sepakati rancangan bersama.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59436" cy="1417320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65376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01  Pembagian peran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40864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Perakit rangkaian • pemrogram • pencatat pengujian • presenter (peran dapat digabung).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19072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19072"/>
            <a:ext cx="59436" cy="1417320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65376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02  Rancangan pin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40864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Merah 13 • Kuning 12 • Hijau 11 • GND untuk katoda LED.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719072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719072"/>
            <a:ext cx="59436" cy="1417320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865376"/>
            <a:ext cx="30815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03  Jadwal &amp; alur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340864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Tentukan urutan lampu, durasi, dan flowchart sebelum coding.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84448"/>
            <a:ext cx="1085392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22191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8C7"/>
                </a:solidFill>
                <a:latin typeface="Inter"/>
              </a:rPr>
              <a:t>RANCANGAN AWAL (LKPD BAGIAN B)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320540"/>
            <a:ext cx="82296" cy="82296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251960"/>
            <a:ext cx="9692640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40"/>
                </a:solidFill>
                <a:latin typeface="Inter"/>
              </a:rPr>
              <a:t>Masalah: lampu perlu berganti otomatis.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590288"/>
            <a:ext cx="82296" cy="82296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21708"/>
            <a:ext cx="9692640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40"/>
                </a:solidFill>
                <a:latin typeface="Inter"/>
              </a:rPr>
              <a:t>Input/proses/output apa yang terlibat?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860036"/>
            <a:ext cx="82296" cy="82296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791456"/>
            <a:ext cx="9692640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40"/>
                </a:solidFill>
                <a:latin typeface="Inter"/>
              </a:rPr>
              <a:t>Urutan dan durasi tiap lampu.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5129784"/>
            <a:ext cx="82296" cy="82296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061204"/>
            <a:ext cx="9692640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40"/>
                </a:solidFill>
                <a:latin typeface="Inter"/>
              </a:rPr>
              <a:t>Gambarkan flowchart singkat dan tuliskan pembagian kerja.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2068372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194035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2 • PENGEMBANGAN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Pertemuan 2 • Rakit, program, dan jalankan simulasi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Bangun proyek sesuai rancangan, lalu uji apakah urutan lampu cocok dengan algoritma.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47088"/>
            <a:ext cx="2468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847088"/>
            <a:ext cx="59436" cy="2148840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2002536"/>
            <a:ext cx="384048" cy="384048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80260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9339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Rakit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68880"/>
            <a:ext cx="208483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Tambahkan tiga LED, resistor, kabel jumper, dan GND.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33472"/>
            <a:ext cx="3474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2A1B5"/>
                </a:solidFill>
                <a:latin typeface="Inte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72" y="1847088"/>
            <a:ext cx="2468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47872" y="1847088"/>
            <a:ext cx="59436" cy="2148840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12463" y="2002536"/>
            <a:ext cx="384048" cy="384048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3" y="2080260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99339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Tulis kode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468880"/>
            <a:ext cx="208483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Atur pin sebagai OUTPUT dan tulis urutan nyala.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633472"/>
            <a:ext cx="3474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2A1B5"/>
                </a:solidFill>
                <a:latin typeface="Inter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1847088"/>
            <a:ext cx="2468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82512" y="1847088"/>
            <a:ext cx="59436" cy="2148840"/>
          </a:xfrm>
          <a:prstGeom prst="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47104" y="2002536"/>
            <a:ext cx="384048" cy="384048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2080260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99339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Jalankan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68880"/>
            <a:ext cx="208483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Mulai simulasi dan amati urutan serta durasi.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633472"/>
            <a:ext cx="3474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2A1B5"/>
                </a:solidFill>
                <a:latin typeface="Inter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17152" y="1847088"/>
            <a:ext cx="2468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17152" y="1847088"/>
            <a:ext cx="59436" cy="2148840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81744" y="2002536"/>
            <a:ext cx="384048" cy="384048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81744" y="2080260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993392"/>
            <a:ext cx="16642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Catat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468880"/>
            <a:ext cx="208483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Rekam gejala/error pada tabel debugging LKPD.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462272"/>
            <a:ext cx="10954512" cy="950976"/>
          </a:xfrm>
          <a:prstGeom prst="roundRect">
            <a:avLst/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4663440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6B00"/>
                </a:solidFill>
                <a:latin typeface="Inter"/>
              </a:rPr>
              <a:t>PERTANYAAN PENUNTUN GURU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0128" y="4617720"/>
            <a:ext cx="7863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740"/>
                </a:solidFill>
                <a:latin typeface="Inter"/>
              </a:rPr>
              <a:t>Lampu mana yang menyala lebih dulu? Sudahkah LED sebelumnya dimatikan sebelum lampu berikutnya menyala?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829714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17016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2 •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Debugging sistematis • Jangan mengubah kode secara acak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Catat gejala, buat dugaan, cari bukti, ubah satu hal, lalu uji ulang.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1975104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1188720" cy="265176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44268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779E8"/>
                </a:solidFill>
                <a:latin typeface="Inter"/>
              </a:rPr>
              <a:t>GEJALA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16276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Apa yang terlihat?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6" y="2578608"/>
            <a:ext cx="274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3A2B6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874519"/>
            <a:ext cx="1975104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99232" y="2103120"/>
            <a:ext cx="1188720" cy="265176"/>
          </a:xfrm>
          <a:prstGeom prst="roundRect">
            <a:avLst/>
          </a:prstGeom>
          <a:solidFill>
            <a:srgbClr val="F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144268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72D9"/>
                </a:solidFill>
                <a:latin typeface="Inter"/>
              </a:rPr>
              <a:t>DUGAAN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670048"/>
            <a:ext cx="16276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Apa kemungkinan penyebabnya?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578608"/>
            <a:ext cx="274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3A2B6"/>
                </a:solidFill>
                <a:latin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2" y="1874519"/>
            <a:ext cx="1975104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66944" y="2103120"/>
            <a:ext cx="1188720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0952" y="2144268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BUKTI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2670048"/>
            <a:ext cx="16276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Apa yang diperiksa?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578608"/>
            <a:ext cx="274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3A2B6"/>
                </a:solidFill>
                <a:latin typeface="Inter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0063" y="1874519"/>
            <a:ext cx="1975104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34655" y="2103120"/>
            <a:ext cx="1188720" cy="265176"/>
          </a:xfrm>
          <a:prstGeom prst="roundRect">
            <a:avLst/>
          </a:prstGeom>
          <a:solidFill>
            <a:srgbClr val="FF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3" y="2144268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F6B67"/>
                </a:solidFill>
                <a:latin typeface="Inter"/>
              </a:rPr>
              <a:t>SOLUSI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4655" y="2670048"/>
            <a:ext cx="16276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Apa yang diubah?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1" y="2578608"/>
            <a:ext cx="274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3A2B6"/>
                </a:solidFill>
                <a:latin typeface="Inter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7776" y="1874519"/>
            <a:ext cx="1975104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02367" y="2103120"/>
            <a:ext cx="1188720" cy="265176"/>
          </a:xfrm>
          <a:prstGeom prst="roundRect">
            <a:avLst/>
          </a:prstGeom>
          <a:solidFill>
            <a:srgbClr val="E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6376" y="2144268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CA77A"/>
                </a:solidFill>
                <a:latin typeface="Inter"/>
              </a:rPr>
              <a:t>HASIL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367" y="2670048"/>
            <a:ext cx="16276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Apakah sudah benar?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251960"/>
            <a:ext cx="10744200" cy="1115568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448056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DDE5"/>
                </a:solidFill>
                <a:latin typeface="Inter"/>
              </a:rPr>
              <a:t>CONTOH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4425696"/>
            <a:ext cx="9098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Inter"/>
              </a:rPr>
              <a:t>Gejala: LED tidak menyala  •  Dugaan: pin kode berbeda dari rangkaian  •  Bukti: cek kabel dan nomor pin  •  Solusi: samakan pin  •  Hasil: jalankan ulang.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5961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F6B67"/>
                </a:solidFill>
                <a:latin typeface="Inter"/>
              </a:rPr>
              <a:t>Setiap perubahan kode harus disertai alasan dan bukti pengujian.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2466136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23381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2 • PEMECAHAN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Jika simulasi gagal, periksa bagian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Gunakan daftar pemeriksaan sebelum menyimpulkan bahwa programnya salah.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1086307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828800"/>
            <a:ext cx="1993392" cy="493776"/>
          </a:xfrm>
          <a:prstGeom prst="round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56816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LED tidak menyala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10512"/>
            <a:ext cx="38404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740"/>
                </a:solidFill>
                <a:latin typeface="Inter"/>
              </a:rPr>
              <a:t>Nomor pin pada kode berbeda dari rangkaian.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810512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Samakan pinMode() dan digitalWrite() dengan kabel.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79192"/>
            <a:ext cx="1086307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816352"/>
            <a:ext cx="1993392" cy="493776"/>
          </a:xfrm>
          <a:prstGeom prst="roundRect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44368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LED menyala terus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798064"/>
            <a:ext cx="38404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740"/>
                </a:solidFill>
                <a:latin typeface="Inter"/>
              </a:rPr>
              <a:t>Logika HIGH/LOW atau urutan padam belum tepat.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798064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Periksa urutan perintah dan status setiap LED.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66744"/>
            <a:ext cx="1086307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3803904"/>
            <a:ext cx="1993392" cy="493776"/>
          </a:xfrm>
          <a:prstGeom prst="round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Kode gagal berjalan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785615"/>
            <a:ext cx="38404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740"/>
                </a:solidFill>
                <a:latin typeface="Inter"/>
              </a:rPr>
              <a:t>Salah ketik, kurung, atau titik koma.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785615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Periksa kembali struktur program dan ejaan fungsi.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54296"/>
            <a:ext cx="1086307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4791456"/>
            <a:ext cx="1993392" cy="493776"/>
          </a:xfrm>
          <a:prstGeom prst="round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19472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Rangkaian tidak benar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773168"/>
            <a:ext cx="38404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740"/>
                </a:solidFill>
                <a:latin typeface="Inter"/>
              </a:rPr>
              <a:t>Kaki LED terbalik atau GND belum terhubung.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773168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Periksa anoda/katoda, resistor, kabel dan GND.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2147925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201990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3 • INPUT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Pertemuan 3 • Tombol penyeberang adalah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Push button memungkinkan program merespons tindakan pengguna, bukan hanya menjalankan urutan waktu.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19072"/>
            <a:ext cx="4937760" cy="4133087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011680"/>
            <a:ext cx="1325880" cy="265176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52828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1DDE5"/>
                </a:solidFill>
                <a:latin typeface="Inter"/>
              </a:rPr>
              <a:t>INPUT_PULLUP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Inter"/>
              </a:rPr>
              <a:t>TOMBOL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0240" y="3246120"/>
            <a:ext cx="0" cy="548640"/>
          </a:xfrm>
          <a:prstGeom prst="line">
            <a:avLst/>
          </a:prstGeom>
          <a:ln w="38100">
            <a:solidFill>
              <a:srgbClr val="24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00200" y="3657600"/>
            <a:ext cx="640080" cy="219456"/>
          </a:xfrm>
          <a:prstGeom prst="rect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920240" y="3877056"/>
            <a:ext cx="0" cy="466344"/>
          </a:xfrm>
          <a:prstGeom prst="line">
            <a:avLst/>
          </a:prstGeom>
          <a:ln w="38100">
            <a:solidFill>
              <a:srgbClr val="24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31720" y="356616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D7EC"/>
                </a:solidFill>
                <a:latin typeface="Inter"/>
              </a:rPr>
              <a:t>Pin 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4343400"/>
            <a:ext cx="0" cy="411480"/>
          </a:xfrm>
          <a:prstGeom prst="line">
            <a:avLst/>
          </a:prstGeom>
          <a:ln w="38100">
            <a:solidFill>
              <a:srgbClr val="24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31720" y="455371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D7EC"/>
                </a:solidFill>
                <a:latin typeface="Inter"/>
              </a:rPr>
              <a:t>GND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074920"/>
            <a:ext cx="4069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Ketika tombol tidak ditekan: HIGH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Ketika tombol ditekan: 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755648"/>
            <a:ext cx="5303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755648"/>
            <a:ext cx="59436" cy="1115568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1901952"/>
            <a:ext cx="4956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pinMode(TOMBOL, INPUT_PULLUP)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2377440"/>
            <a:ext cx="491947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Mengatur pin tombol dengan pull-up internal.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090672"/>
            <a:ext cx="5303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3090672"/>
            <a:ext cx="59436" cy="1115568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236976"/>
            <a:ext cx="4956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digitalRead(TOMBOL)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3712463"/>
            <a:ext cx="491947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Membaca status pin sebagai HIGH atau 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4425696"/>
            <a:ext cx="5303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4425696"/>
            <a:ext cx="59436" cy="1115568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4572000"/>
            <a:ext cx="4956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Logika saat ditekan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5047488"/>
            <a:ext cx="491947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Jika nilai terbaca LOW, jalankan urutan perubahan lampu sesuai program.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2466136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23381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3 • INTEGRASI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Alur logika tombol penyeberang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Ketika tombol ditekan, program memeriksa input dan menjalankan urutan lampu yang dirancang.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38528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2104" y="2139696"/>
            <a:ext cx="384048" cy="384048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240280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5798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MULAI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Lampu hijau menyala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1256" y="24231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1A0B4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8728" y="1938528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85032" y="2139696"/>
            <a:ext cx="384048" cy="384048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240280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215798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BACA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2724912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digitalRead(TOMBOL)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4" y="24231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1A0B4"/>
                </a:solidFill>
                <a:latin typeface="Inte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91656" y="1938528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2139696"/>
            <a:ext cx="384048" cy="384048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240280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215798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DITEKAN?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2724912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LOW berarti ditekan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24231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1A0B4"/>
                </a:solidFill>
                <a:latin typeface="Inter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44584" y="1938528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90888" y="2139696"/>
            <a:ext cx="384048" cy="384048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90888" y="2240280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4663" y="215798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UBAH LAMPU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7463" y="2724912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Hijau padam → kuning → merah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096512"/>
            <a:ext cx="10789920" cy="1143000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" y="4489704"/>
            <a:ext cx="100035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24B8C7"/>
                </a:solidFill>
                <a:latin typeface="Inter"/>
              </a:rPr>
              <a:t>TANTANGAN LKPD  </a:t>
            </a:r>
            <a:r>
              <a:rPr sz="1300" b="0">
                <a:solidFill>
                  <a:srgbClr val="1A2740"/>
                </a:solidFill>
                <a:latin typeface="Inter"/>
              </a:rPr>
              <a:t>Tambahkan tombol pada pin 2 dan GND. Jelaskan perubahan rangkaian, perubahan kode, dan hasil yang terlihat saat tombol ditekan.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59612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Gunakan logika sesuai contoh modul; uji kondisi tombol dan catat hasilnya.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829714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17016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3 • UJI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Uji hasil proyek sebelum presentasi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Demonstrasikan rangkaian dan jelaskan hubungan kode, proses, serta output.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44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810512"/>
            <a:ext cx="274320" cy="274320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1792224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Rangkaian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764792"/>
            <a:ext cx="81838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LED dan tombol terhubung sesuai rancangan; pin cocok dengan kode.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59736"/>
            <a:ext cx="10744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624328"/>
            <a:ext cx="274320" cy="274320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2606040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578608"/>
            <a:ext cx="81838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Urutan dan durasi lampu sesuai algoritma; tidak ada error sintaks.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73552"/>
            <a:ext cx="10744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438144"/>
            <a:ext cx="274320" cy="274320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3419856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Debugging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392424"/>
            <a:ext cx="81838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Error dicatat dan diperbaiki melalui dugaan, bukti, serta uji ulang.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87368"/>
            <a:ext cx="10744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251959"/>
            <a:ext cx="274320" cy="274320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423367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Tombol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4206240"/>
            <a:ext cx="81838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Input dibaca dengan digitalRead(); respons sesuai logika program.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01184"/>
            <a:ext cx="10744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5065776"/>
            <a:ext cx="274320" cy="274320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53312" y="5047488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Penjelasan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5020056"/>
            <a:ext cx="81838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Kelompok menjelaskan cara kerja dan menerima masukan.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909267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178125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PERTEMUAN 3 • PRESENTASI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Presentasi proyek • Tunjukkan proses, bukan hanya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Setiap kelompok mendemonstrasikan simulasi dan menjelaskan logika program.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59436" cy="1828800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83664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01  Tunjukkan rangkaian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59152"/>
            <a:ext cx="30449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Sebutkan fungsi Arduino, LED, resistor, kabel jumper, dan tombol.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37360"/>
            <a:ext cx="59436" cy="1828800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883664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02  Jelaskan kode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59152"/>
            <a:ext cx="30449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Uraikan setup(), loop(), pinMode(), digitalWrite(), delay(), digitalRead().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373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737360"/>
            <a:ext cx="59436" cy="1828800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883664"/>
            <a:ext cx="30815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03  Ceritakan debugging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359152"/>
            <a:ext cx="30449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Apa errornya, dugaan penyebab, bukti, perubahan, dan hasil uji?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77639"/>
            <a:ext cx="10835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22452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8C7"/>
                </a:solidFill>
                <a:latin typeface="Inter"/>
              </a:rPr>
              <a:t>ASPEK RUBRIK PROYEK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645152"/>
            <a:ext cx="182880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74573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740"/>
                </a:solidFill>
                <a:latin typeface="Inter"/>
              </a:rPr>
              <a:t>Rangkaian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4645152"/>
            <a:ext cx="182880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B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474573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740"/>
                </a:solidFill>
                <a:latin typeface="Inter"/>
              </a:rPr>
              <a:t>Program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4645152"/>
            <a:ext cx="182880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2352" y="474573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740"/>
                </a:solidFill>
                <a:latin typeface="Inter"/>
              </a:rPr>
              <a:t>Debugging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4645152"/>
            <a:ext cx="182880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6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9752" y="474573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740"/>
                </a:solidFill>
                <a:latin typeface="Inter"/>
              </a:rPr>
              <a:t>Pengembangan tombol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4645152"/>
            <a:ext cx="182880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A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17152" y="474573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740"/>
                </a:solidFill>
                <a:latin typeface="Inter"/>
              </a:rPr>
              <a:t>Presentasi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57784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Rubrik: 4 = sangat baik • 3 = baik • 2 = cukup • 1 = perlu bimbingan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051560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923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ASESMEN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Asesmen dan kriteria ketercapaian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Penilaian mencakup pemahaman konsep, praktik, debugging, presentasi, serta sikap dan PSE.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19072"/>
            <a:ext cx="51663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19072"/>
            <a:ext cx="59436" cy="1298448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65376"/>
            <a:ext cx="4818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Diagnostik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40864"/>
            <a:ext cx="4782312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5 soal tentang sistem komputer, I–P–O, algoritma, pengalaman coding, gaya belajar.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19072"/>
            <a:ext cx="51663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19072"/>
            <a:ext cx="59436" cy="1298448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865376"/>
            <a:ext cx="4818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Praktik &amp; proyek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340864"/>
            <a:ext cx="4782312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Unjuk kerja rangkaian; program lampu; debugging; pengembangan tombol.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73552"/>
            <a:ext cx="51663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273552"/>
            <a:ext cx="59436" cy="1298448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419856"/>
            <a:ext cx="4818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Uraian formatif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895344"/>
            <a:ext cx="4782312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5 soal tentang sistem komputer, Arduino, input-proses-output, fungsi kode, dan troubleshooting.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73552"/>
            <a:ext cx="51663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273552"/>
            <a:ext cx="59436" cy="1298448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419856"/>
            <a:ext cx="4818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Observasi &amp; refleksi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895344"/>
            <a:ext cx="4782312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Disiplin, kerja sama, mengelola error, saling membantu, serta refleksi diri.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983480"/>
            <a:ext cx="10835640" cy="804672"/>
          </a:xfrm>
          <a:prstGeom prst="roundRect">
            <a:avLst/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1208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Nilai uraian = (total skor ÷ 20) × 100. Setiap soal diberi skor 1–4.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051560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923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REFLEKSI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Refleksi PSE • Apa yang terjadi saat program error?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Kesalahan merupakan bagian dari proses belajar. Berhenti sejenak, cek bukti, lalu coba dengan strategi yang jelas.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55648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755648"/>
            <a:ext cx="59436" cy="1417320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Self-awareness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29992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Apa yang saya rasakan saat simulasi tidak berjalan?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755648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755648"/>
            <a:ext cx="59436" cy="1417320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901952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Self-management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77440"/>
            <a:ext cx="29992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Apa yang membantu saya tetap tenang dan berpikir sistematis?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55648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1755648"/>
            <a:ext cx="59436" cy="1417320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901952"/>
            <a:ext cx="30358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Relationship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377440"/>
            <a:ext cx="29992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Bagaimana saya berbagi peran dan membantu teman?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703320"/>
            <a:ext cx="10771632" cy="1463040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8678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DDE5"/>
                </a:solidFill>
                <a:latin typeface="Inter"/>
              </a:rPr>
              <a:t>REFLEKSI INDIVIDU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913632"/>
            <a:ext cx="8001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Inter"/>
              </a:rPr>
              <a:t>1. Apa pemahaman baru saya tentang sistem komputer?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Inter"/>
              </a:rPr>
              <a:t>2. Error apa yang saya alami dan bagaimana saya mengatasinya?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Inter"/>
              </a:rPr>
              <a:t>3. Apa yang akan saya perbaiki pada proyek berikutnya?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051560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923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TINDAK LANJUT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Tindak lanjut • Remedial dan pengayaan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Pilih tantangan berikut sesuai ketercapaian tujuan pembelajaran.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55648"/>
            <a:ext cx="513892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55648"/>
            <a:ext cx="59436" cy="3401568"/>
          </a:xfrm>
          <a:prstGeom prst="rect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914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740"/>
                </a:solidFill>
                <a:latin typeface="Inter"/>
              </a:rPr>
              <a:t>REMEDIAL • Perkuat dasar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77440"/>
            <a:ext cx="4754880" cy="2670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Ulangi konsep input–proses–output dan struktur sketch.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Praktik bertahap: satu LED → dua LED bergantian → lampu lalu lintas.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Latihan melengkapi kode dan menemukan kesalahan pin.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755648"/>
            <a:ext cx="513892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755648"/>
            <a:ext cx="59436" cy="3401568"/>
          </a:xfrm>
          <a:prstGeom prst="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901952"/>
            <a:ext cx="47914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740"/>
                </a:solidFill>
                <a:latin typeface="Inter"/>
              </a:rPr>
              <a:t>PENGAYAAN • Kembangkan proyek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377440"/>
            <a:ext cx="4754880" cy="2670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Buat lampu lalu lintas dua jalur; jangan sampai dua jalur hijau bersamaan.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Tambahkan mode kuning berkedip (hazard) dan buzzer.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Jadilah tutor sebaya untuk membantu kelompok lain.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40680"/>
            <a:ext cx="10643616" cy="512064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577840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Pilih tugas yang menantang, tetapi masih dapat diuji dan dijelaskan secara logis.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1051560" cy="26517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59" y="297180"/>
            <a:ext cx="923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B8C7"/>
                </a:solidFill>
                <a:latin typeface="Inter"/>
              </a:rPr>
              <a:t>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740"/>
                </a:solidFill>
                <a:latin typeface="Inter Display"/>
              </a:rPr>
              <a:t>Kesimpulan • Dari kode menjadi sistem yang bekerja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155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B80"/>
                </a:solidFill>
                <a:latin typeface="Inter"/>
              </a:rPr>
              <a:t>Arduino menghubungkan konsep sistem komputer dengan pemrograman dan pemecahan masalah nyata.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0528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65379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8C7"/>
                </a:solidFill>
                <a:latin typeface="Inter"/>
              </a:rPr>
              <a:t>ALUR KERJA PROYEK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88920"/>
            <a:ext cx="1024128" cy="822960"/>
          </a:xfrm>
          <a:prstGeom prst="round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08376"/>
            <a:ext cx="9326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Inter"/>
              </a:rPr>
              <a:t>RANGKAIAN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3008376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1A0B4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12264" y="2788920"/>
            <a:ext cx="1024128" cy="822960"/>
          </a:xfrm>
          <a:prstGeom prst="round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57984" y="3008376"/>
            <a:ext cx="9326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Inter"/>
              </a:rPr>
              <a:t>KODE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3008376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1A0B4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0128" y="2788920"/>
            <a:ext cx="1024128" cy="822960"/>
          </a:xfrm>
          <a:prstGeom prst="round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3008376"/>
            <a:ext cx="9326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Inter"/>
              </a:rPr>
              <a:t>SIMULASI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3008376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1A0B4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7992" y="2788920"/>
            <a:ext cx="1024128" cy="822960"/>
          </a:xfrm>
          <a:prstGeom prst="round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008376"/>
            <a:ext cx="9326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Inter"/>
              </a:rPr>
              <a:t>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008376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1A0B4"/>
                </a:solidFill>
                <a:latin typeface="Inter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05856" y="2788920"/>
            <a:ext cx="1024128" cy="822960"/>
          </a:xfrm>
          <a:prstGeom prst="round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008376"/>
            <a:ext cx="9326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Inter"/>
              </a:rPr>
              <a:t>UJI &amp; PRESENTASI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096512"/>
            <a:ext cx="5806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Sistem yang baik memerlukan rangkaian yang benar, kode yang logis, dan pengujian berdasarkan bukti.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737360"/>
            <a:ext cx="3977639" cy="3566160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18120" y="2029968"/>
            <a:ext cx="1170432" cy="265176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2128" y="2071116"/>
            <a:ext cx="104241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1DDE5"/>
                </a:solidFill>
                <a:latin typeface="Inter"/>
              </a:rPr>
              <a:t>EXIT TICKET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606040"/>
            <a:ext cx="306324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Satu hal yang saya pahami…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Satu error yang berhasil saya atasi…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Satu hal yang akan saya perbaiki…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7548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1DDE5"/>
                </a:solidFill>
                <a:latin typeface="Inter"/>
              </a:rPr>
              <a:t>Pertemuan berikutnya: Running Text dan LED Matrix.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