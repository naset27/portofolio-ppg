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0" autoAdjust="0"/>
    <p:restoredTop sz="94660"/>
  </p:normalViewPr>
  <p:slideViewPr>
    <p:cSldViewPr snapToGrid="0" snapToObjects="1">
      <p:cViewPr>
        <p:scale>
          <a:sx n="78" d="100"/>
          <a:sy n="78" d="100"/>
        </p:scale>
        <p:origin x="6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315200" y="1005840"/>
            <a:ext cx="1828800" cy="822960"/>
          </a:xfrm>
          <a:prstGeom prst="line">
            <a:avLst/>
          </a:prstGeom>
          <a:ln w="25400">
            <a:solidFill>
              <a:srgbClr val="24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144000" y="1005840"/>
            <a:ext cx="1554480" cy="822960"/>
          </a:xfrm>
          <a:prstGeom prst="line">
            <a:avLst/>
          </a:prstGeom>
          <a:ln w="25400">
            <a:solidFill>
              <a:srgbClr val="47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0" y="1828800"/>
            <a:ext cx="1645920" cy="1371600"/>
          </a:xfrm>
          <a:prstGeom prst="line">
            <a:avLst/>
          </a:prstGeom>
          <a:ln w="25400">
            <a:solidFill>
              <a:srgbClr val="8B7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132320" y="1005840"/>
            <a:ext cx="182880" cy="2011680"/>
          </a:xfrm>
          <a:prstGeom prst="line">
            <a:avLst/>
          </a:prstGeom>
          <a:ln w="25400">
            <a:solidFill>
              <a:srgbClr val="47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32320" y="3017520"/>
            <a:ext cx="1645920" cy="1097280"/>
          </a:xfrm>
          <a:prstGeom prst="line">
            <a:avLst/>
          </a:prstGeom>
          <a:ln w="25400">
            <a:solidFill>
              <a:srgbClr val="EF6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778240" y="3200400"/>
            <a:ext cx="2011680" cy="914400"/>
          </a:xfrm>
          <a:prstGeom prst="line">
            <a:avLst/>
          </a:prstGeom>
          <a:ln w="25400">
            <a:solidFill>
              <a:srgbClr val="24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4114800"/>
            <a:ext cx="1097280" cy="1371600"/>
          </a:xfrm>
          <a:prstGeom prst="line">
            <a:avLst/>
          </a:prstGeom>
          <a:ln w="25400">
            <a:solidFill>
              <a:srgbClr val="F4B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3200400"/>
            <a:ext cx="914400" cy="1371600"/>
          </a:xfrm>
          <a:prstGeom prst="line">
            <a:avLst/>
          </a:prstGeom>
          <a:ln w="25400">
            <a:solidFill>
              <a:srgbClr val="477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50608" y="841248"/>
            <a:ext cx="329184" cy="329184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87968" y="1572768"/>
            <a:ext cx="512064" cy="512064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43032" y="850392"/>
            <a:ext cx="310896" cy="310896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61320" y="2971800"/>
            <a:ext cx="457200" cy="457200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03720" y="2788920"/>
            <a:ext cx="457200" cy="457200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3919" y="3840480"/>
            <a:ext cx="548640" cy="548640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2640" y="5303520"/>
            <a:ext cx="365760" cy="365760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58016" y="4425696"/>
            <a:ext cx="292608" cy="29260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320040"/>
            <a:ext cx="4754880" cy="4754880"/>
          </a:xfrm>
          <a:prstGeom prst="ellipse">
            <a:avLst/>
          </a:prstGeom>
          <a:noFill/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03720" y="731520"/>
            <a:ext cx="3931920" cy="3931920"/>
          </a:xfrm>
          <a:prstGeom prst="ellipse">
            <a:avLst/>
          </a:prstGeom>
          <a:noFill/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658368"/>
            <a:ext cx="2697480" cy="256032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690372"/>
            <a:ext cx="255117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MODUL AJAR • KURIKULUM MERDEKA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1216152"/>
            <a:ext cx="585216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Inter Display"/>
              </a:rPr>
              <a:t>Informatika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Inter Display"/>
              </a:rPr>
              <a:t>Sekarang dan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 Display"/>
              </a:rPr>
              <a:t>Masa Depan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9476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7EC"/>
                </a:solidFill>
                <a:latin typeface="Inter"/>
              </a:rPr>
              <a:t>Revolusi Industri 4.0 • Kecerdasan Artifisial • Big Data • IoT • Keamanan Siber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4736592"/>
            <a:ext cx="4279392" cy="0"/>
          </a:xfrm>
          <a:prstGeom prst="line">
            <a:avLst/>
          </a:prstGeom>
          <a:ln w="17780">
            <a:solidFill>
              <a:srgbClr val="3D4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4956048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8E1F0"/>
                </a:solidFill>
                <a:latin typeface="Inter"/>
              </a:rPr>
              <a:t>SMA Negeri 1 Colomadu  |  Informatika Kelas XII • Fase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3492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2D0"/>
                </a:solidFill>
                <a:latin typeface="Inter"/>
              </a:rPr>
              <a:t>Erwin Fajariansyah  •  PPG  •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71500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EBFA"/>
                </a:solidFill>
                <a:latin typeface="Inter"/>
              </a:rPr>
              <a:t>BELAJAR KRITIS. BERKARYA ETIS.</a:t>
            </a:r>
          </a:p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EBFA"/>
                </a:solidFill>
                <a:latin typeface="Inter"/>
              </a:rPr>
              <a:t>MENJAGA DATA DAN MANUSIA.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097280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95097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ORIENTASI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Tujuan pembelajaran dan alur belajar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Capaian Pembelajaran Fase F: mengkaji secara kritis kasus sosial terkait produk TIK dan sistem komputasi, menganalisis kasus, serta menyampaikan argumentasi dan rasionalnya.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35935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64008" cy="141732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01  Revolusi Industri 4.0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22576"/>
            <a:ext cx="3209544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Menjelaskan karakteristik RI 4.0, penerapan AI, serta dampak positif dan negatifnya.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64208"/>
            <a:ext cx="35935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664208"/>
            <a:ext cx="64008" cy="141732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1828800"/>
            <a:ext cx="32278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02  Big Data &amp; IoT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322576"/>
            <a:ext cx="3209544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Menjelaskan konsep 3V, menganalisis alur data, manfaat, dan risiko privasi.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664208"/>
            <a:ext cx="35935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1" y="1664208"/>
            <a:ext cx="64008" cy="141732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3227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03  Keamanan &amp; inovasi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22576"/>
            <a:ext cx="3209544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Mengenali ancaman siber dan merancang gagasan inovasi yang aman serta etis.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01568"/>
            <a:ext cx="1104595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8C7"/>
                </a:solidFill>
                <a:latin typeface="Inter"/>
              </a:rPr>
              <a:t>ALUR TIGA PERTEMUAN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187952"/>
            <a:ext cx="438912" cy="438912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270248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16052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PERTEMUAN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89704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Pahami AI &amp; dampaknya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42153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A8BC"/>
                </a:solidFill>
                <a:latin typeface="Inter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4526280" y="4187952"/>
            <a:ext cx="438912" cy="438912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4270248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16052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PERTEMUAN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489704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Telusuri alur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421538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A8BC"/>
                </a:solidFill>
                <a:latin typeface="Inter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8138160" y="4187952"/>
            <a:ext cx="438912" cy="438912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4270248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160520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PERTEMUAN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489704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Lindungi &amp; ciptakan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257800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Model: Problem Based Learning (PBL)  •  Pendekatan: Mindful, Meaningful, Joyful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892807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APERSEPSI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Siapa yang memilihkan video untukmu?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Apersepsi: teknologi yang digunakan sejak bangun tidur hingga sampai di sekolah.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627632"/>
            <a:ext cx="4800600" cy="443484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1938528"/>
            <a:ext cx="2084831" cy="256032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970532"/>
            <a:ext cx="1938527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PERTANYAAN PEMANTIK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406908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 Display"/>
              </a:rPr>
              <a:t>Mengapa video di TikTok atau YouTube sering sesuai minatmu?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86784"/>
            <a:ext cx="4041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1DDE5"/>
                </a:solidFill>
                <a:latin typeface="Inter"/>
              </a:rPr>
              <a:t>Siapa yang “memilihkan” konten itu?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919472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7EC"/>
                </a:solidFill>
                <a:latin typeface="Inter"/>
              </a:rPr>
              <a:t>Pikirkan kebiasaanmu saat menonton dan berinteraksi di aplikasi.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737360"/>
            <a:ext cx="5650992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737360"/>
            <a:ext cx="64008" cy="1042415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89320" y="1901952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192938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1901952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Aktivitas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7" y="2395728"/>
            <a:ext cx="5266944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Video yang ditonton sampai habis, dilewati, disukai, atau dibagikan.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3063240"/>
            <a:ext cx="5650992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06440" y="3063240"/>
            <a:ext cx="64008" cy="1042415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89320" y="3227832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325526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227832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Pola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7" y="3721608"/>
            <a:ext cx="5266944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Sistem mencari kesamaan dari aktivitas banyak pengguna.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4389120"/>
            <a:ext cx="5650992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06440" y="4389120"/>
            <a:ext cx="64008" cy="1042415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89320" y="4553712"/>
            <a:ext cx="384048" cy="384048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458114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553712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Rekomendasi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7607" y="5047488"/>
            <a:ext cx="5266944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AI memperkirakan konten yang mungkin menarik bagimu.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Empat tahap revolusi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Perubahan besar dalam cara manusia memproduksi barang dan jasa akibat teknologi baru.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2578608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2578608" cy="109728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8096" y="2121408"/>
            <a:ext cx="676656" cy="676656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304288"/>
            <a:ext cx="6766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17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MESIN UAP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0215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Mekanisasi; tenaga manusia/hewan mulai dibantu mesin.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83464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828800"/>
            <a:ext cx="2578608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1828800"/>
            <a:ext cx="2578608" cy="109728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84448" y="2121408"/>
            <a:ext cx="676656" cy="676656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84448" y="2304288"/>
            <a:ext cx="6766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017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LISTRIK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50215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Produksi massal dan jalur perakitan.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83464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828800"/>
            <a:ext cx="2578608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1828800"/>
            <a:ext cx="2578608" cy="109728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800" y="2121408"/>
            <a:ext cx="676656" cy="676656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304288"/>
            <a:ext cx="6766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KOMPUTER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Elektronik dan otomatisasi produksi; sekitar 1970-an.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283464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15984" y="1828800"/>
            <a:ext cx="2578608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15984" y="1828800"/>
            <a:ext cx="2578608" cy="109728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17152" y="2121408"/>
            <a:ext cx="676656" cy="67665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17152" y="2304288"/>
            <a:ext cx="6766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3017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SISTEM CERDAS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350215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Internet, AI, IoT, Big Data, cloud; sistem fisik dan digital saling terhubung.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30368"/>
            <a:ext cx="11045952" cy="66751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5541264"/>
            <a:ext cx="10241280" cy="18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24B8C7"/>
                </a:solidFill>
                <a:latin typeface="Inter"/>
              </a:rPr>
              <a:t>GAGASAN UTAMA  </a:t>
            </a:r>
            <a:r>
              <a:rPr sz="1300" b="0">
                <a:solidFill>
                  <a:srgbClr val="1A2740"/>
                </a:solidFill>
                <a:latin typeface="Inter"/>
              </a:rPr>
              <a:t>Revolusi 4.0 menyatukan dunia fisik dan digital melalui internet, data, serta kecerdasan artifisial.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Ciri utama Revolusi Industri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Perhatikan bagaimana teknologi terhubung, mengolah data, dan menyesuaikan layanan.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3127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64008" cy="1572768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1901952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92938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901952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Otomasi cerdas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39572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Mesin dapat menyesuaikan kerja berdasarkan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1737360"/>
            <a:ext cx="3127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33087" y="1737360"/>
            <a:ext cx="64008" cy="1572768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15968" y="1901952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192938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5" y="1901952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Konektivitas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39572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Perangkat, mesin, dan manusia terhubung melalui internet.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1737360"/>
            <a:ext cx="3127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07808" y="1737360"/>
            <a:ext cx="64008" cy="1572768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90688" y="1901952"/>
            <a:ext cx="384048" cy="384048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90688" y="192938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901952"/>
            <a:ext cx="230428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Data sebagai sumber daya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239572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Keputusan memanfaatkan analisis data dalam jumlah besar.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95728" y="3749039"/>
            <a:ext cx="3127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95728" y="3749039"/>
            <a:ext cx="64008" cy="15727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578608" y="3913631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78608" y="3941063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3913631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Sistem siber-fisik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6896" y="4407407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Sistem digital memantau atau mengendalikan objek fisik.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70448" y="3749039"/>
            <a:ext cx="312724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70448" y="3749039"/>
            <a:ext cx="64008" cy="1572768"/>
          </a:xfrm>
          <a:prstGeom prst="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053328" y="3913631"/>
            <a:ext cx="384048" cy="384048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3328" y="3941063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3913631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Layanan personal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71616" y="4407407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Produk atau layanan dapat disesuaikan bagi pengguna.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2057400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91109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MASALAH PBL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Apakah AI akan menggantikan pekerjaan manusia?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Diskusikan berdasarkan bukti dan alasan, bukan sekadar pendapat.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64208"/>
            <a:ext cx="10954512" cy="841248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10378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AI mengubah cara manusia belajar, bekerja, dan mengambil keputusan.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52928"/>
            <a:ext cx="5074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52928"/>
            <a:ext cx="64008" cy="1965960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017520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PELUANG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11296"/>
            <a:ext cx="4690872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Membantu pekerjaan berulang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Mendukung analisis lebih cepat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Membuka bentuk layanan dan profesi baru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852928"/>
            <a:ext cx="5074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82512" y="2852928"/>
            <a:ext cx="64008" cy="196596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RISIKO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11296"/>
            <a:ext cx="4690872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Informasi atau prediksi keliru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Ketergantungan dan menyalin jawaban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• Privasi, bias, deepfake, atau pekerjaan berubah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38928"/>
            <a:ext cx="10716768" cy="694944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321808"/>
            <a:ext cx="103327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ARGUMEN KELOMPOK: Siapa yang diuntungkan? Siapa yang mungkin dirugikan? Apa alasannya?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2304288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KERJA KELOMPOK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LKPD 1 • AI di sekitar kita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Tiap kelompok mengkaji satu bidang dan menyampaikan analisis dengan bahasa sendiri.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64208"/>
            <a:ext cx="50292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64208"/>
            <a:ext cx="64008" cy="361188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2880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LANGKAH KERJA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22576"/>
            <a:ext cx="4645152" cy="284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1. Ambil satu kartu studi kasus.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2. Cari informasi dari minimal dua sumber tepercaya.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3. Analisis cara kerja, dampak positif-negatif, pihak terdampak, dan sikap bijak.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4. Tulis pada kertas plano untuk gallery walk.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64208"/>
            <a:ext cx="546811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664208"/>
            <a:ext cx="64008" cy="1517904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828800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BAGI PERAN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22576"/>
            <a:ext cx="508406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Ketua • Pencatat • Pencari sumber • Presenter • Pemeriksa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50215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B80"/>
                </a:solidFill>
                <a:latin typeface="Inter"/>
              </a:rPr>
              <a:t>PILIHAN BIDANG STUDI KASUS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2472" y="3977639"/>
            <a:ext cx="2340864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200" y="4105655"/>
            <a:ext cx="164592" cy="164592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4050791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Pendidikan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3977639"/>
            <a:ext cx="2340864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50807" y="4105655"/>
            <a:ext cx="164592" cy="164592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4050791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Kesehatan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62472" y="4590288"/>
            <a:ext cx="2340864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72200" y="4718303"/>
            <a:ext cx="164592" cy="164592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4663440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Transportasi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4590288"/>
            <a:ext cx="2340864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750807" y="4718303"/>
            <a:ext cx="164592" cy="164592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4663440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Pertanian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62472" y="5202936"/>
            <a:ext cx="2340864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72200" y="5330951"/>
            <a:ext cx="164592" cy="164592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5276088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Perbankan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5202936"/>
            <a:ext cx="2340864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50807" y="5330951"/>
            <a:ext cx="164592" cy="164592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06840" y="5276088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Industri kreatif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587959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B67"/>
                </a:solidFill>
                <a:latin typeface="Inter"/>
              </a:rPr>
              <a:t>Ingat: jangan menyalin mentah jawaban internet atau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975104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Gallery walk • Baca, tanggapi, dan belajar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Setiap kelompok menjadi pembuat karya sekaligus pemberi umpan balik.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64008" cy="233172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59" y="2221992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21992"/>
            <a:ext cx="17556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1. KUNJUNGI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715768"/>
            <a:ext cx="2194560" cy="1563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Amati karya kelompok lain dengan tertib.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7" y="2907792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057400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0" y="2057400"/>
            <a:ext cx="64008" cy="233172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57600" y="2221992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222199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2. BACA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2715768"/>
            <a:ext cx="2194560" cy="1563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Cari cara kerja AI dan dampak yang disampaikan.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7" y="2907792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057400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057400"/>
            <a:ext cx="64008" cy="233172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92240" y="2221992"/>
            <a:ext cx="384048" cy="384048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221992"/>
            <a:ext cx="1755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3. TANGGAPI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715768"/>
            <a:ext cx="2194560" cy="1563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Tulis satu apresiasi dan satu pertanyaan pada sticky note.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907792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3A2B6"/>
                </a:solidFill>
                <a:latin typeface="Inte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2057400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0" y="2057400"/>
            <a:ext cx="64008" cy="233172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26880" y="2221992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24942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221992"/>
            <a:ext cx="17556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4. REFLEKSI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2715768"/>
            <a:ext cx="2194560" cy="1563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Bandingkan argumen dan pertimbangkan pihak terdampak.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956048"/>
            <a:ext cx="10771632" cy="74980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5175504"/>
            <a:ext cx="10314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Umpan balik yang baik: spesifik, santun, relevan, dan membantu kelompok memperjelas alasan.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892807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PENGUATAN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AI belajar dari pola data, bukan berpikir seperti manusia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Gunakan AI sebagai alat bantu belajar, sambil tetap memeriksa hasilnya.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6400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2377440"/>
            <a:ext cx="1627632" cy="1097280"/>
          </a:xfrm>
          <a:prstGeom prst="round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257860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944368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Aktivitas dan contoh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6974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1A1B6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2377440"/>
            <a:ext cx="1627632" cy="1097280"/>
          </a:xfrm>
          <a:prstGeom prst="round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57860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POLA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44368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AI menemukan keteraturan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974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1A1B6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2377440"/>
            <a:ext cx="1627632" cy="1097280"/>
          </a:xfrm>
          <a:prstGeom prst="round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93208" y="257860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PREDIKSI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944368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Sistem memperkirakan hasil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773936"/>
            <a:ext cx="4069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1773936"/>
            <a:ext cx="64008" cy="310896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62088" y="1938528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ETIKA MENGGUNAKAN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432304"/>
            <a:ext cx="3685032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• Gunakan untuk memahami konsep.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• Periksa jawaban dengan sumber tepercaya.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• Tulis kembali dengan kata-kata sendiri dan jelaskan jika dibantu AI.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• Jangan masukkan NIK, alamat, atau kata sandi ke chatbot.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709160"/>
            <a:ext cx="10716768" cy="85039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965192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CEK DIRI: Apakah jawaban masuk akal? Apa sumber pembandingnya? Apakah penggunaan AI saya jujur?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728216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1 •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Rangkuman pertemuan 1 • Revolusi Industri 4.0 dan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Simpulkan pembelajaran dengan satu gagasan dan satu batasan.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64008" cy="2057400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30358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REVOLUSI 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3017520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Internet, data, AI, IoT, dan sistem fisik-digital yang terhubung.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64008" cy="205740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947672"/>
            <a:ext cx="30358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41448"/>
            <a:ext cx="3017520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Menemukan pola dari data untuk mengenali, memprediksi, atau memberi rekomendasi.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78308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783080"/>
            <a:ext cx="64008" cy="2057400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947672"/>
            <a:ext cx="30358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SIKAP BIJAK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441448"/>
            <a:ext cx="3017520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B80"/>
                </a:solidFill>
                <a:latin typeface="Inter"/>
              </a:rPr>
              <a:t>Evaluasi dampak, cek fakta, jaga privasi, dan jujur saat belajar.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343400"/>
            <a:ext cx="10661904" cy="1024128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5354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0DDE5"/>
                </a:solidFill>
                <a:latin typeface="Inter"/>
              </a:rPr>
              <a:t>EXIT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98848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“Satu manfaat AI yang akan saya gunakan dan satu batasan yang akan saya jaga adalah …”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41848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Persiapan pertemuan berikutnya: catat tiga perangkat atau aplikasi di rumah yang mengumpulkan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892807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APERSEPSI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Big Data dan IoT • Dari perangkat menjadi keputusan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Pertanyaan pemantik: bagaimana aplikasi ojek daring memperkirakan tarif dan waktu tiba?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4736592" cy="4169663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" y="1956816"/>
            <a:ext cx="1965960" cy="256032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988820"/>
            <a:ext cx="181965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AMATI SISTEM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396849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 Display"/>
              </a:rPr>
              <a:t>Tarif dan ETA muncul bahkan sebelum perjalanan dimulai.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77056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1DDE5"/>
                </a:solidFill>
                <a:latin typeface="Inter"/>
              </a:rPr>
              <a:t>Data apa yang mungkin dibutuhkan?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370832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E2F1"/>
                </a:solidFill>
                <a:latin typeface="Inter"/>
              </a:rPr>
              <a:t>Lokasi • jarak • kondisi lalu lintas • pola perjalanan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773936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1773936"/>
            <a:ext cx="64008" cy="141732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07607" y="1938528"/>
            <a:ext cx="5166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TUJUAN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7" y="2432304"/>
            <a:ext cx="5148072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Menjelaskan konsep Big Data melalui karakteristik volume, velocity, dan variety.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3493008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3493008"/>
            <a:ext cx="64008" cy="141732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7" y="3657600"/>
            <a:ext cx="5166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TUJUAN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4151376"/>
            <a:ext cx="5148072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Menganalisis hubungan IoT dan Big Data beserta manfaat serta risiko privasinya.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39496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B80"/>
                </a:solidFill>
                <a:latin typeface="Inter"/>
              </a:rPr>
              <a:t>Kata kunci: sensor • jaringan • data • analisis • privasi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2377440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ORIENTASI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Studi kasus • Petani cabai di Karanganyar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Masalah PBL: bagaimana teknologi membantu petani mengetahui kapan harus menyiram dan memupuk?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37360"/>
            <a:ext cx="495604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737360"/>
            <a:ext cx="64008" cy="34015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MASALAH SAAT 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572000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Penyiraman atau pemupukan terlambat.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Kondisi tanah berubah sepanjang hari.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Keputusan tanpa catatan data yang cukup dapat kurang tepat.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737360"/>
            <a:ext cx="541324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07608" y="1737360"/>
            <a:ext cx="64008" cy="3401568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1901952"/>
            <a:ext cx="5047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740"/>
                </a:solidFill>
                <a:latin typeface="Inter"/>
              </a:rPr>
              <a:t>GAGASAN SISTEM PINTAR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95728"/>
            <a:ext cx="5029200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Sensor membaca kelembapan tanah dan suhu.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Data dikirim ke aplikasi melalui internet.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Notifikasi muncul saat tanah terlalu kering.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B80"/>
                </a:solidFill>
                <a:latin typeface="Inter"/>
              </a:rPr>
              <a:t>• Pompa dapat menyala otomatis sesuai rancangan.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440680"/>
            <a:ext cx="10625328" cy="475488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2"/>
            <a:ext cx="10241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TANTANGAN: data apa yang dikumpulkan, siapa yang mengaksesnya, dan bagaimana jika data keliru atau bocor?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Alur IoT • Dari sensor ke tindakan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IoT menghubungkan perangkat fisik untuk mengirim atau menerima data.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057400"/>
            <a:ext cx="199339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9576" y="2304288"/>
            <a:ext cx="658368" cy="65836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487168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" y="3127248"/>
            <a:ext cx="1810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429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Membaca kelembapan tanah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72491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7A5B9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7" y="2057400"/>
            <a:ext cx="199339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11296" y="2304288"/>
            <a:ext cx="658368" cy="65836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2487168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127248"/>
            <a:ext cx="1810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JARINGAN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3429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Mengirimkan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5464" y="272491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7A5B9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2057400"/>
            <a:ext cx="199339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43016" y="2304288"/>
            <a:ext cx="658368" cy="658368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43016" y="2487168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127248"/>
            <a:ext cx="1810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429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Menyimpan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272491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7A5B9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16367" y="2057400"/>
            <a:ext cx="199339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74736" y="2304288"/>
            <a:ext cx="658368" cy="658368"/>
          </a:xfrm>
          <a:prstGeom prst="ellipse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74736" y="2487168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3127248"/>
            <a:ext cx="1810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ANALISIS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5" y="3429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Memeriksa kondisi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18903" y="272491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7A5B9"/>
                </a:solidFill>
                <a:latin typeface="Inte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8" y="2057400"/>
            <a:ext cx="1993392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06456" y="2304288"/>
            <a:ext cx="658368" cy="65836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06456" y="2487168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3127248"/>
            <a:ext cx="18105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TINDAKAN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7815" y="3429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Notifikasi / pompa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434840"/>
            <a:ext cx="10698480" cy="98755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4681728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740"/>
                </a:solidFill>
                <a:latin typeface="Inter"/>
              </a:rPr>
              <a:t>Contoh pada modul: setiap 10 menit sensor mengirim data; jika tanah terlalu kering, aplikasi memberi notifikasi dan pompa air menyala otomatis.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15000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6B67"/>
                </a:solidFill>
                <a:latin typeface="Inter"/>
              </a:rPr>
              <a:t>Pertanyaan: bagaimana sistem mencegah tindakan jika sensor rusak atau datanya tidak wajar?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Big Data • Kenali karakteristik 3V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Kumpulan data yang sangat besar, bertambah cepat, dan beragam sehingga perlu teknologi khusus untuk mengolahnya.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01952"/>
            <a:ext cx="33375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157984"/>
            <a:ext cx="676656" cy="676656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408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35808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456432"/>
            <a:ext cx="28529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Jumlah data sangat besar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59936"/>
            <a:ext cx="2907792" cy="36576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33087"/>
            <a:ext cx="2724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740"/>
                </a:solidFill>
                <a:latin typeface="Inter"/>
              </a:rPr>
              <a:t>Jutaan pencarian dan klik pengguna.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1901952"/>
            <a:ext cx="33375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2157984"/>
            <a:ext cx="676656" cy="676656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23408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035808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456432"/>
            <a:ext cx="28529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Data dihasilkan / diproses cepat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059936"/>
            <a:ext cx="2907792" cy="365760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4133087"/>
            <a:ext cx="2724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740"/>
                </a:solidFill>
                <a:latin typeface="Inter"/>
              </a:rPr>
              <a:t>Ribuan transaksi marketplace per detik.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1" y="1901952"/>
            <a:ext cx="33375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48471" y="2157984"/>
            <a:ext cx="676656" cy="676656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1" y="23408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035808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VARIETY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3456432"/>
            <a:ext cx="28529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Bentuk data beragam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059936"/>
            <a:ext cx="2907792" cy="365760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133087"/>
            <a:ext cx="2724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740"/>
                </a:solidFill>
                <a:latin typeface="Inter"/>
              </a:rPr>
              <a:t>Teks, foto, video, lokasi, dan suara.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029200"/>
            <a:ext cx="10652760" cy="731520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5413248"/>
            <a:ext cx="98298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A47B18"/>
                </a:solidFill>
                <a:latin typeface="Inter"/>
              </a:rPr>
              <a:t>INGAT  </a:t>
            </a:r>
            <a:r>
              <a:rPr sz="1300" b="0">
                <a:solidFill>
                  <a:srgbClr val="1A2740"/>
                </a:solidFill>
                <a:latin typeface="Inter"/>
              </a:rPr>
              <a:t>Data yang banyak belum tentu bermanfaat jika tidak akurat (Veracity) dan tidak diolah menjadi nilai (Value).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2304288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KERJA KELOMPOK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LKPD 2 • Jejak Data di Sekitar Kita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Rotasikan peran dari pertemuan sebelumnya, kemudian bandingkan dua kasus.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532180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1938528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KASUS A • SENSOR LAHAN CABAI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22576"/>
            <a:ext cx="493776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Sensor mengirim data kelembapan tanah dan suhu setiap 10 menit. Data dari banyak lahan dipakai untuk membantu memprediksi waktu tanam dan pemupukan.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64208"/>
            <a:ext cx="532180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664208"/>
            <a:ext cx="64008" cy="1938528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KASUS B • REKOMENDASI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493776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Sistem mencatat pencarian, klik, produk yang dilihat, lokasi, dan riwayat belanja dalam bentuk teks, gambar, ulasan, serta video.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3950208"/>
            <a:ext cx="1080820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160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B8C7"/>
                </a:solidFill>
                <a:latin typeface="Inter"/>
              </a:rPr>
              <a:t>TUGAS KELOMPOK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590288"/>
            <a:ext cx="91440" cy="91440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517136"/>
            <a:ext cx="9857232" cy="27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Gambarkan diagram alur data untuk Kasus A.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85944"/>
            <a:ext cx="91440" cy="91440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4812792"/>
            <a:ext cx="9857232" cy="27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Temukan contoh volume, velocity, dan variety pada kedua kasus.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181600"/>
            <a:ext cx="91440" cy="91440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3856" y="5108448"/>
            <a:ext cx="9857232" cy="27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40"/>
                </a:solidFill>
                <a:latin typeface="Inter"/>
              </a:rPr>
              <a:t>Analisis manfaat, risiko privasi, dan cara menguranginya.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892807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PENGUATAN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IoT dan Big Data • Berhubungan, tetapi berbeda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Keduanya saling mendukung, namun fokus utamanya tidak sama.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507492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27648" y="1783080"/>
            <a:ext cx="507492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2011680"/>
            <a:ext cx="713232" cy="2560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04368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79E8"/>
                </a:solidFill>
                <a:latin typeface="Inter"/>
              </a:rPr>
              <a:t>IOT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11680"/>
            <a:ext cx="1188720" cy="256032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2" y="2043684"/>
            <a:ext cx="10424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72D9"/>
                </a:solidFill>
                <a:latin typeface="Inter"/>
              </a:rPr>
              <a:t>BIG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5237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B80"/>
                </a:solidFill>
                <a:latin typeface="Inter"/>
              </a:rPr>
              <a:t>Fokus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05456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Perangkat fisik terhubung yang mengumpulkan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2004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B80"/>
                </a:solidFill>
                <a:latin typeface="Inter"/>
              </a:rPr>
              <a:t>Contoh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182112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740"/>
                </a:solidFill>
                <a:latin typeface="Inter"/>
              </a:rPr>
              <a:t>Sensor tanah, jam pintar, CCTV pintar.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237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B80"/>
                </a:solidFill>
                <a:latin typeface="Inter"/>
              </a:rPr>
              <a:t>Fokus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05456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Kumpulan data besar dan cara mengolahnya.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2004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6B80"/>
                </a:solidFill>
                <a:latin typeface="Inter"/>
              </a:rPr>
              <a:t>Contoh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182112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740"/>
                </a:solidFill>
                <a:latin typeface="Inter"/>
              </a:rPr>
              <a:t>Jutaan transaksi atau data cuaca bertahun-tahun.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407408"/>
            <a:ext cx="10652760" cy="1115568"/>
          </a:xfrm>
          <a:prstGeom prst="roundRect">
            <a:avLst/>
          </a:prstGeom>
          <a:solidFill>
            <a:srgbClr val="FF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64515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F6B67"/>
                </a:solidFill>
                <a:latin typeface="Inter"/>
              </a:rPr>
              <a:t>RISIKO PRIVASI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4599432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740"/>
                </a:solidFill>
                <a:latin typeface="Inter"/>
              </a:rPr>
              <a:t>Lokasi, kebiasaan, nomor telepon, atau data sensitif dapat bocor atau disalahgunakan.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705856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Pelindungan data pribadi di Indonesia: UU No. 27 Tahun 2022. Baca izin aplikasi, batasi akses, dan atur privasi akun.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728216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2 • ASESMEN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Cek pemahaman • Big Data, IoT, dan privasi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Gunakan pertanyaan ini sebagai pemanasan kuis formatif.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664208"/>
            <a:ext cx="521208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865376"/>
            <a:ext cx="438912" cy="438912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84248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82880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Apa arti velocity?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24942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Kecepatan data dihasilkan atau diproses.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64208"/>
            <a:ext cx="521208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91655" y="1865376"/>
            <a:ext cx="438912" cy="438912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5" y="1984248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82880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Komponen apa yang membaca kelembapan tanah?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24942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Sensor.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145536"/>
            <a:ext cx="521208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9536" y="3346704"/>
            <a:ext cx="438912" cy="438912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465576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310128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Teks, foto, dan video menunjukkan apa?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73075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Variety / keragaman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3145536"/>
            <a:ext cx="5212080" cy="1216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1655" y="3346704"/>
            <a:ext cx="438912" cy="438912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5" y="3465576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310128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Apa risiko privasi dari perangkat IoT?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73075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Data lokasi atau kebiasaan dapat bocor.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956048"/>
            <a:ext cx="10661904" cy="841248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515721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7B18"/>
                </a:solidFill>
                <a:latin typeface="Inter"/>
              </a:rPr>
              <a:t>REFLEKSI INDIVIDU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129784"/>
            <a:ext cx="80467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“Data pribadi apa yang selama ini saya bagikan tanpa sadar?”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892807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APERSEPSI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Keamanan siber • Jangan asal klik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Pertanyaan pemantik: pernah menerima undangan pernikahan dalam bentuk file APK?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4709160" cy="425196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1956816"/>
            <a:ext cx="1417320" cy="256032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1988820"/>
            <a:ext cx="12710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CONTOH PESAN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505456"/>
            <a:ext cx="4069080" cy="1828800"/>
          </a:xfrm>
          <a:prstGeom prst="round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679192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Nomor tidak dikenal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63240"/>
            <a:ext cx="3520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740"/>
                </a:solidFill>
                <a:latin typeface="Inter"/>
              </a:rPr>
              <a:t>“Assalamualaikum, ini undangan pernikahan kami. Mohon dibuka ya 🙏”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913632"/>
            <a:ext cx="2560320" cy="292608"/>
          </a:xfrm>
          <a:prstGeom prst="roundRect">
            <a:avLst/>
          </a:prstGeom>
          <a:solidFill>
            <a:srgbClr val="FF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5024" y="3968496"/>
            <a:ext cx="23317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6B67"/>
                </a:solidFill>
                <a:latin typeface="Inter"/>
              </a:rPr>
              <a:t>Undangan_Digital.apk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809744"/>
            <a:ext cx="393192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7F5"/>
                </a:solidFill>
                <a:latin typeface="Inter"/>
              </a:rPr>
              <a:t>Jangan unduh atau buka file mencurigakan untuk sekadar menguji.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810512"/>
            <a:ext cx="5413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7880" y="1810512"/>
            <a:ext cx="64008" cy="123444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8" y="1975104"/>
            <a:ext cx="5047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TUJUAN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468880"/>
            <a:ext cx="5029200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Mengidentifikasi ancaman siber dan cara pencegahannya.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3337560"/>
            <a:ext cx="541324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7880" y="3337560"/>
            <a:ext cx="64008" cy="123444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9048" y="3502152"/>
            <a:ext cx="5047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740"/>
                </a:solidFill>
                <a:latin typeface="Inter"/>
              </a:rPr>
              <a:t>TUJUAN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3995928"/>
            <a:ext cx="5029200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Merancang gagasan inovasi informatika yang aman dan etis.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4956048"/>
            <a:ext cx="5413248" cy="731520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5157216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Tanyakan: apa ciri yang membuat pesan ini perlu dicurigai?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810512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SIMULASI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Simulasi “Asli atau Jebakan?”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Periksa tanda bahaya pada pesan; jangan membuka file atau tautan untuk membuktikannya.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64008" cy="15727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1865376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892808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865376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Hadiah besar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359152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Tautan singkat meminta KTP dan nomor rekening.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00784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1700784"/>
            <a:ext cx="64008" cy="15727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0" y="1865376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1892808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865376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Undangan APK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359152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File aplikasi dari nomor tidak dikenal.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00784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19872" y="1700784"/>
            <a:ext cx="64008" cy="1572768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02752" y="1865376"/>
            <a:ext cx="384048" cy="38404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1892808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578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Pesan wali kelas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59152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Info upacara di grup kelas resmi.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02736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3602736"/>
            <a:ext cx="64008" cy="15727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1247" y="3767328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3794760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3767328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Permintaan OTP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261104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Penelepon mengaku petugas dompet digital.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602736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3602736"/>
            <a:ext cx="64008" cy="1572768"/>
          </a:xfrm>
          <a:prstGeom prst="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0" y="3767328"/>
            <a:ext cx="384048" cy="38404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3794760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767328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Tugas Classroom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261104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Notifikasi tugas pada aplikasi resmi.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2" y="3602736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19872" y="3602736"/>
            <a:ext cx="64008" cy="157276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02752" y="3767328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02752" y="3794760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67328"/>
            <a:ext cx="25786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Akun diblokir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261104"/>
            <a:ext cx="30175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Desakan verifikasi lewat alamat mirip situs asli.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" y="5650992"/>
            <a:ext cx="10652760" cy="429768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" y="5751576"/>
            <a:ext cx="10241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Diskusikan cirinya: alamat pengirim • tautan • desakan waktu • permintaan data rahasia • kanal resmi.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Lima ancaman siber dan cara mencegahnya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Keamanan siber melindungi perangkat, jaringan, dan data dari serangan atau akses tanpa izin.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81912"/>
            <a:ext cx="1086307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581912"/>
            <a:ext cx="2148840" cy="694944"/>
          </a:xfrm>
          <a:prstGeom prst="round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187451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17373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740"/>
                </a:solidFill>
                <a:latin typeface="Inter"/>
              </a:rPr>
              <a:t>Pesan/situs palsu untuk memancing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09928"/>
            <a:ext cx="437083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Jangan klik tautan mencurigakan; cek situs resmi.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414016"/>
            <a:ext cx="1086307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2414016"/>
            <a:ext cx="2148840" cy="694944"/>
          </a:xfrm>
          <a:prstGeom prst="round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2615184"/>
            <a:ext cx="187451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MALWARE / APK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569464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740"/>
                </a:solidFill>
                <a:latin typeface="Inter"/>
              </a:rPr>
              <a:t>File palsu dapat mencuri data atau OTP.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542032"/>
            <a:ext cx="437083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Hindari aplikasi dari tautan / toko tidak resmi.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46120"/>
            <a:ext cx="1086307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2148840" cy="694944"/>
          </a:xfrm>
          <a:prstGeom prst="roundRect">
            <a:avLst/>
          </a:prstGeom>
          <a:solidFill>
            <a:srgbClr val="F4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3447288"/>
            <a:ext cx="187451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REKAYASA SOSIAL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401568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740"/>
                </a:solidFill>
                <a:latin typeface="Inter"/>
              </a:rPr>
              <a:t>Manipulasi agar korban memberi informasi rahasia.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374136"/>
            <a:ext cx="437083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Jangan berikan OTP atau PIN kepada siapa pun.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78224"/>
            <a:ext cx="1086307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78224"/>
            <a:ext cx="2148840" cy="694944"/>
          </a:xfrm>
          <a:prstGeom prst="round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279392"/>
            <a:ext cx="187451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KEBOCORAN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423367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740"/>
                </a:solidFill>
                <a:latin typeface="Inter"/>
              </a:rPr>
              <a:t>Data pengguna tersebar akibat sistem terekspos/diretas.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206240"/>
            <a:ext cx="437083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Batasi data dan gunakan kata sandi berbeda.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10328"/>
            <a:ext cx="1086307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4910328"/>
            <a:ext cx="2148840" cy="694944"/>
          </a:xfrm>
          <a:prstGeom prst="round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5111496"/>
            <a:ext cx="1874519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PERETASAN AKUN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065776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740"/>
                </a:solidFill>
                <a:latin typeface="Inter"/>
              </a:rPr>
              <a:t>Kata sandi lemah ditebak atau dicuri.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038344"/>
            <a:ext cx="4370832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Gunakan kata sandi kuat dan autentikasi dua faktor (2FA).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Proyek kelompok • Rancang inovasi informatika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Pilih satu masalah nyata di sekolah atau lingkungan Colomadu. Solusi harus aman dan etis.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3822191" cy="4224528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1874519" cy="256032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97964"/>
            <a:ext cx="17282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TANTANGAN DESAIN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 Display"/>
              </a:rPr>
              <a:t>Masalah nyata → solusi digital yang bermanfaat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3090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E2F1"/>
                </a:solidFill>
                <a:latin typeface="Inter"/>
              </a:rPr>
              <a:t>Pilih teknologi yang sesuai kebutuhan, bukan sekadar yang paling canggih.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1DDE5"/>
                </a:solidFill>
                <a:latin typeface="Inter"/>
              </a:rPr>
              <a:t>AI  •  IoT  •  Big Data  •  Aplikasi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719072"/>
            <a:ext cx="290779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1719072"/>
            <a:ext cx="64008" cy="1536192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7" y="1883664"/>
            <a:ext cx="25420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ISI INFOGRAFIS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377439"/>
            <a:ext cx="252374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Judul • masalah • sasaran pengguna • teknologi • cara kerja.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719072"/>
            <a:ext cx="33375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19872" y="1719072"/>
            <a:ext cx="64008" cy="1536192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883664"/>
            <a:ext cx="297179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TUNJUKKAN DAMPAK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39"/>
            <a:ext cx="295351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Manfaat • risiko keamanan/etika • pencegahan.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3593592"/>
            <a:ext cx="290779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92040" y="3593592"/>
            <a:ext cx="64008" cy="1536192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93207" y="3758184"/>
            <a:ext cx="25420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VISUALKAN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7" y="4251960"/>
            <a:ext cx="2523744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Gunakan ikon atau diagram alur yang jelas.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593592"/>
            <a:ext cx="33375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19872" y="3593592"/>
            <a:ext cx="64008" cy="1536192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758184"/>
            <a:ext cx="297179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CANTUMKAN SUMBER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2953512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Gunakan sumber tepercaya dan tulis dengan bahasa kelompok sendiri.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559552"/>
            <a:ext cx="6492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B80"/>
                </a:solidFill>
                <a:latin typeface="Inter"/>
              </a:rPr>
              <a:t>Produk: infografis Canva + idea pitching maksimal 2 menit; setiap anggota mendapat bagian berbicara.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645919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996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PRODUK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Contoh kerangka infografis dan idea pitching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Contoh gagasan yang selaras dengan modul: sistem penyiraman taman sekolah otomatis berbasis IoT.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82496"/>
            <a:ext cx="6565392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682496"/>
            <a:ext cx="6565392" cy="621792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6080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TAMAN SEKOLAH PINTAR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743200"/>
            <a:ext cx="1508760" cy="868680"/>
          </a:xfrm>
          <a:prstGeom prst="round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2935224"/>
            <a:ext cx="13624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Sensor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kelembapan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302666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FA0B7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2743200"/>
            <a:ext cx="1508760" cy="868680"/>
          </a:xfrm>
          <a:prstGeom prst="round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26664" y="2935224"/>
            <a:ext cx="13624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Kontrol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berbasis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02666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FA0B7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9472" y="2743200"/>
            <a:ext cx="1508760" cy="868680"/>
          </a:xfrm>
          <a:prstGeom prst="roundRect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92624" y="2935224"/>
            <a:ext cx="13624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Pompa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otomatis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096512"/>
            <a:ext cx="1883664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A77A"/>
                </a:solidFill>
                <a:latin typeface="Inter"/>
              </a:rPr>
              <a:t>Manfaat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90288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740"/>
                </a:solidFill>
                <a:latin typeface="Inter"/>
              </a:rPr>
              <a:t>Hemat air dan perawatan lebih terarah.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62656" y="4096512"/>
            <a:ext cx="1883664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72384" y="4251960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B67"/>
                </a:solidFill>
                <a:latin typeface="Inter"/>
              </a:rPr>
              <a:t>Risiko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2384" y="4590288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740"/>
                </a:solidFill>
                <a:latin typeface="Inter"/>
              </a:rPr>
              <a:t>Sensor keliru; akses sistem disalahgunakan.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096512"/>
            <a:ext cx="1883664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38928" y="4251960"/>
            <a:ext cx="16642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8C7"/>
                </a:solidFill>
                <a:latin typeface="Inter"/>
              </a:rPr>
              <a:t>Pencegahan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590288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740"/>
                </a:solidFill>
                <a:latin typeface="Inter"/>
              </a:rPr>
              <a:t>Verifikasi sensor; batasi akses dan amankan akun.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1764792"/>
            <a:ext cx="3822191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1764792"/>
            <a:ext cx="64008" cy="1143000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36408" y="1929384"/>
            <a:ext cx="34564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PITCHING 2 MENIT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2423160"/>
            <a:ext cx="3438144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Masalah → solusi → cara kerja → manfaat → risiko dan pencegahan.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822191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35240" y="3200400"/>
            <a:ext cx="64008" cy="1143000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36408" y="3364992"/>
            <a:ext cx="34564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SEBELUM TAMPIL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3858768"/>
            <a:ext cx="3438144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Pastikan sumber tercantum, visual terbaca, dan semua anggota berbicara.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4663440"/>
            <a:ext cx="3822191" cy="932688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45552" y="4892040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740"/>
                </a:solidFill>
                <a:latin typeface="Inter"/>
              </a:rPr>
              <a:t>Tanya-jawab: Apa alasan teknologi ini tepat untuk masalah yang dipilih?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975104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MASA DEPAN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Peluang profesi informatika masa depan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Tren yang berkembang: AI generatif, kota pintar, kendaraan otonom, layanan kesehatan digital, energi pintar, dan komputasi kuantum.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107442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1728216"/>
            <a:ext cx="384048" cy="384048"/>
          </a:xfrm>
          <a:prstGeom prst="ellipse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1965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737360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Data Scientist / Analis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28216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Mengolah data menjadi informasi.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1719072"/>
            <a:ext cx="3977639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79E8"/>
                </a:solidFill>
                <a:latin typeface="Inter"/>
              </a:rPr>
              <a:t>Matematika • statistika • pemrograman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432304"/>
            <a:ext cx="107442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2587752"/>
            <a:ext cx="384048" cy="384048"/>
          </a:xfrm>
          <a:prstGeom prst="ellipse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67919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596896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AI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587752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Membangun dan melatih model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578608"/>
            <a:ext cx="3977639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72D9"/>
                </a:solidFill>
                <a:latin typeface="Inter"/>
              </a:rPr>
              <a:t>Pemrograman • logika • etika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291839"/>
            <a:ext cx="107442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112" y="3447287"/>
            <a:ext cx="384048" cy="384048"/>
          </a:xfrm>
          <a:prstGeom prst="ellipse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538727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456432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Cybersecurity 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447287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Melindungi sistem dan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438144"/>
            <a:ext cx="3977639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6B67"/>
                </a:solidFill>
                <a:latin typeface="Inter"/>
              </a:rPr>
              <a:t>Jaringan • ketelitian • integritas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51376"/>
            <a:ext cx="107442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96112" y="4306824"/>
            <a:ext cx="384048" cy="384048"/>
          </a:xfrm>
          <a:prstGeom prst="ellipse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39826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315968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IoT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306824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Merancang perangkat terhubung.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4297680"/>
            <a:ext cx="3977639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8C7"/>
                </a:solidFill>
                <a:latin typeface="Inter"/>
              </a:rPr>
              <a:t>Elektronika • pemrograman • jaringan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010912"/>
            <a:ext cx="1074420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96112" y="5166359"/>
            <a:ext cx="384048" cy="384048"/>
          </a:xfrm>
          <a:prstGeom prst="ellipse">
            <a:avLst/>
          </a:prstGeom>
          <a:solidFill>
            <a:srgbClr val="3CA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5257800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175503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740"/>
                </a:solidFill>
                <a:latin typeface="Inter"/>
              </a:rPr>
              <a:t>UI/UX Designer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166359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B80"/>
                </a:solidFill>
                <a:latin typeface="Inter"/>
              </a:rPr>
              <a:t>Merancang aplikasi yang mudah digunakan.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5157216"/>
            <a:ext cx="3977639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CA77A"/>
                </a:solidFill>
                <a:latin typeface="Inter"/>
              </a:rPr>
              <a:t>Desain • empati pengguna • kreativitas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" y="5989320"/>
            <a:ext cx="10652760" cy="310896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" y="6035040"/>
            <a:ext cx="102412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740"/>
                </a:solidFill>
                <a:latin typeface="Inter"/>
              </a:rPr>
              <a:t>Bekal masa depan: berpikir kritis, analisis data, kreativitas, kolaborasi, dan etika digital.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274320"/>
            <a:ext cx="1728216" cy="256032"/>
          </a:xfrm>
          <a:prstGeom prst="roundRect">
            <a:avLst/>
          </a:prstGeom>
          <a:solidFill>
            <a:srgbClr val="E2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B8C7"/>
                </a:solidFill>
                <a:latin typeface="Inter"/>
              </a:rPr>
              <a:t>PERTEMUAN 3 •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2740"/>
                </a:solidFill>
                <a:latin typeface="Inter Display"/>
              </a:rPr>
              <a:t>Penutup • Cerdas menggunakan, aman beraktivitas, etis berinovasi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12471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B80"/>
                </a:solidFill>
                <a:latin typeface="Inter"/>
              </a:rPr>
              <a:t>Teknologi akan terus berubah; sikap kritis dan tanggung jawab tetap penting.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6519672"/>
            <a:ext cx="11164824" cy="0"/>
          </a:xfrm>
          <a:prstGeom prst="line">
            <a:avLst/>
          </a:prstGeom>
          <a:ln w="1016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6B80"/>
                </a:solidFill>
                <a:latin typeface="Inter"/>
              </a:rPr>
              <a:t>INFORMATIKA • XII / FASE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E6B80"/>
                </a:solidFill>
                <a:latin typeface="Inter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26700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" cy="1024128"/>
          </a:xfrm>
          <a:prstGeom prst="rect">
            <a:avLst/>
          </a:prstGeom>
          <a:solidFill>
            <a:srgbClr val="47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10512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Menemukan pola dari data; hasilnya perlu diperiksa.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1645920"/>
            <a:ext cx="26700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9584" y="1645920"/>
            <a:ext cx="64008" cy="1024128"/>
          </a:xfrm>
          <a:prstGeom prst="rect">
            <a:avLst/>
          </a:prstGeom>
          <a:solidFill>
            <a:srgbClr val="8B7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1810512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Big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3V: volume, velocity, variety.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52928"/>
            <a:ext cx="26700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852928"/>
            <a:ext cx="64008" cy="1024128"/>
          </a:xfrm>
          <a:prstGeom prst="rect">
            <a:avLst/>
          </a:prstGeom>
          <a:solidFill>
            <a:srgbClr val="24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0175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IoT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5112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Perangkat fisik terhubung mengumpulkan dan bertukar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9584" y="2852928"/>
            <a:ext cx="26700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9584" y="2852928"/>
            <a:ext cx="64008" cy="1024128"/>
          </a:xfrm>
          <a:prstGeom prst="rect">
            <a:avLst/>
          </a:prstGeom>
          <a:solidFill>
            <a:srgbClr val="EF6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30752" y="30175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Keamanan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5112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Cek tautan, jangan bagikan OTP/PIN, gunakan kata sandi kuat + 2FA.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6832" y="1664208"/>
            <a:ext cx="4663440" cy="2377440"/>
          </a:xfrm>
          <a:prstGeom prst="roundRect">
            <a:avLst/>
          </a:prstGeom>
          <a:solidFill>
            <a:srgbClr val="10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67728" y="1938528"/>
            <a:ext cx="1572768" cy="256032"/>
          </a:xfrm>
          <a:prstGeom prst="roundRect">
            <a:avLst/>
          </a:prstGeom>
          <a:solidFill>
            <a:srgbClr val="20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1970532"/>
            <a:ext cx="14264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1DDE5"/>
                </a:solidFill>
                <a:latin typeface="Inter"/>
              </a:rPr>
              <a:t>ASESMEN SUMATIF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2423160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Inter Display"/>
              </a:rPr>
              <a:t>10 pilihan ganda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Inter Display"/>
              </a:rPr>
              <a:t>+ 2 soal uraian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438144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7EC"/>
                </a:solidFill>
                <a:latin typeface="Inter"/>
              </a:rPr>
              <a:t>Google Form • 15 menit • dikerjakan mandiri dan jujur • KKTP 75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315968"/>
            <a:ext cx="10607040" cy="1170432"/>
          </a:xfrm>
          <a:prstGeom prst="roundRect">
            <a:avLst/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5262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47B18"/>
                </a:solidFill>
                <a:latin typeface="Inter"/>
              </a:rPr>
              <a:t>REFLEKSI AKHIR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480560"/>
            <a:ext cx="8092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740"/>
                </a:solidFill>
                <a:latin typeface="Inter"/>
              </a:rPr>
              <a:t>Teknologi apa yang paling sering kamu gunakan? Apa dampak positif dan negatifnya? Data apa yang perlu kamu lindungi mulai sekarang?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97296"/>
            <a:ext cx="10287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B80"/>
                </a:solidFill>
                <a:latin typeface="Inter"/>
              </a:rPr>
              <a:t>Catatan: tautan Google Form tidak tercantum dalam modul; tambahkan tautan kelas saat presentasi digunakan.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2563</Words>
  <Application>Microsoft Office PowerPoint</Application>
  <PresentationFormat>Widescreen</PresentationFormat>
  <Paragraphs>452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Inter</vt:lpstr>
      <vt:lpstr>Inter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Informatika Sekarang dan Masa Depan - Kelas XII Fase F</dc:title>
  <dc:subject>Presentasi pembelajaran berdasarkan modul ajar SMA Negeri 1 Colomadu</dc:subject>
  <dc:creator>Erwin Fajariansyah</dc:creator>
  <cp:keywords>Informatika, Revolusi Industri 4.0, AI, Big Data, IoT, Keamanan Siber</cp:keywords>
  <dc:description>generated using python-pptx</dc:description>
  <cp:lastModifiedBy>ACER</cp:lastModifiedBy>
  <cp:revision>1</cp:revision>
  <dcterms:created xsi:type="dcterms:W3CDTF">2013-01-27T09:14:16Z</dcterms:created>
  <dcterms:modified xsi:type="dcterms:W3CDTF">2026-10-21T03:40:35Z</dcterms:modified>
  <cp:category/>
</cp:coreProperties>
</file>