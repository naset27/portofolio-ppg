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Sampul dengan pola LED, lalu empat kartu mewakili cara berpikir sistematis.
Panduan guru: Buka pembelajaran dengan menyampaikan topik, kelas, dan kaitan berpikir komputasional dengan masalah sehari-hari.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Tiga fase pembelajaran dan alur lima sintaks PBL dalam timeline.
Panduan guru: Terangkan bahwa kegiatan berpusat pada masalah, lalu peserta didik menyelidiki, mempresentasikan, dan mengevaluasi solusi. Total waktu 135 menit: pendahuluan 15, inti 105, penutup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Kartu CP dan tiga tujuan pembelajaran harian dengan kode kognitif.
Panduan guru: Bacakan tujuan dengan bahasa sederhana. Arahkan peserta didik untuk memperhatikan bahwa kegiatan bergerak dari memahami, menganalisis, sampai merancang solusi.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Ilustrasi kalender dan tiga pertanyaan apersepsi dari modul.
Panduan guru: Dengarkan jawaban tanpa langsung menilai benar atau salah. Gunakan respons sebagai asesmen diagnostik awal dan hubungkan dengan ide memecah masalah serta menyusun prioritas.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Definisi utama pada bidang gelap dan perbandingan “bukan hanya” versus “melainkan”.
Panduan guru: Tegaskan bahwa komputer adalah salah satu konteks penerapan; inti pelajaran ialah kualitas cara berpikir dan perumusan solusi.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Lima kartu manfaat dengan nomor dan aksen warna.
Panduan guru: Minta peserta didik menyebutkan manfaat yang paling terasa dalam kehidupan mereka dan memberi contoh singkat.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Diagram empat komponen berurutan dengan kata kerja inti.
Panduan guru: Jelaskan gambaran umum dahulu; rincikan tiap komponen pada empat slide berikutnya. Ingatkan bahwa ini bukan langkah yang harus selalu dipisahkan secara kaku.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Pohon dekomposisi dari acara perpisahan menuju dekorasi, konsumsi, hiburan, dan dokumentasi.
Panduan guru: Tanyakan bagaimana pembagian tersebut membuat tugas lebih mudah dikelola. Hubungkan dengan tugas kelompok untuk jadwal piket.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Tiga kartu soal sejenis diikuti penjelasan cara mencari pola dan manfaatnya.
Panduan guru: Pastikan peserta didik tidak menyamakan pola dengan menyalin solusi secara buta. Perlu diperiksa apakah konteksnya benar-benar serupa.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Peta skematis dengan rute berwarna dan detail bangunan yang dibuat pudar.
Panduan guru: Minta peserta didik menyebutkan informasi penting dan tidak penting untuk memilih rute. Tegaskan bahwa relevansi detail bergantung pada tujuan 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Alur lima langkah membuat mi instan dan kartu karakter algoritma.
Panduan guru: Tanyakan apa yang terjadi bila urutan langkah diacak. Hubungkan algoritma dengan prosedur kegiatan harian dan solusi yang bisa dijalankan.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Empat kolom yang memetakan komponen BK pada contoh jadwal belajar 6 mapel/5 hari.
Panduan guru: Tekankan bahwa keempat komponen saling melengkapi. Peserta didik boleh mengusulkan strategi berbeda selama dapat menjelaskan alasan dan efisiensinya.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Jaringan jalan ilustratif dengan satu rute pilihan yang ditonjolkan; tiga kartu alur pikir.
Panduan guru: Jangan mengklaim detail teknis khusus algoritma aplikasi tertentu. Gunakan gambar sebagai masalah kontekstual untuk menalar informasi, membandingkan pilihan, dan menyusun langkah.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Kartu kasus Rafi dan tiga pertanyaan dari LKPD Bagian A.
Panduan guru: Gunakan pertanyaan untuk memulai penyelidikan. Arahkan kelompok agar menuliskan data yang dibutuhkan dan membagi tugas penyelidikan.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Empat kartu peran kelompok plus norma kolaborasi.
Panduan guru: Bentuk kelompok heterogen seperti arahan modul. Untuk kelompok beranggota lima, satu peran dapat dibagi atau ditambahkan sebagai pemeriksa solusi.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Empat kolom LKPD untuk menerapkan setiap komponen pada jadwal piket.
Panduan guru: Minta kelompok mencantumkan informasi yang dibutuhkan—jumlah siswa, hari piket, hari libur, dan lainnya—sesuai instruksi LKPD. Jangan memberikan satu jawaban baku; nilai kelogisan solusi.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Contoh flowchart mendatar lima tahap dengan pertanyaan pemeriksaan.
Panduan guru: Jelaskan bahwa diagram merupakan contoh, bukan satu-satunya jawaban. Kelompok perlu menunjukkan alur yang relevan dengan solusi mereka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Checklist presentasi di samping panduan apresiasi dan pertanyaan.
Panduan guru: Beri kesempatan tiap kelompok mempresentasikan karya. Gunakan format satu apresiasi dan satu pertanyaan agar tanggapan tetap spesifik dan menghargai teman.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Empat kartu kriteria membandingkan solusi.
Panduan guru: Kriteria berasal dari fokus modul tentang efisiensi, konsistensi, evaluasi ulang, dan transfer ke masalah lain. Ajak kelompok menjelaskan bukti yang mendukung penilaiannya.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Empat kartu kuis dengan jawaban ringkas.
Panduan guru: Untuk latihan lisan, sembunyikan sementara baris jawaban ketika menyajikan. Jika menggunakan sebagai slide biasa, guru dapat meminta peserta didik menjawab sebelum mengungkap jawaban.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Lima soal esai HOTS yang diringkas dari instrumen sumatif modul.
Panduan guru: Sesuaikan penggunaan slide dengan alokasi waktu. Lima soal ini adalah asesmen tertulis; arahkan peserta didik menjawab secara mandiri dan memberi justifikasi.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Exit ticket serta dua jalur tindak lanjut pengayaan dan remedial.
Panduan guru: Berikan waktu refleksi individu yang jujur. Tekankan bahwa refleksi bukan hanya benar-salah, melainkan mengenali kemajuan dan kesulitan.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 visual: Tiga referensi utama dan kotak sumber CS Unplugged yang dicantumkan dalam modul.
Panduan guru: Arahkan peserta didik pada sumber belajar untuk eksplorasi lebih lanjut, terutama bila mengerjakan proyek mini atau pengayaan.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2B8A6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DE4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562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INFORMATIKA  •  FASE F  •  KELAS XII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658368"/>
            <a:ext cx="2468880" cy="265176"/>
          </a:xfrm>
          <a:prstGeom prst="roundRect">
            <a:avLst>
              <a:gd name="adj" fmla="val 41379"/>
            </a:avLst>
          </a:prstGeom>
          <a:solidFill>
            <a:srgbClr val="21435A"/>
          </a:solidFill>
          <a:ln w="12700">
            <a:solidFill>
              <a:srgbClr val="21435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676656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INFORMATIKA • FASE 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98448"/>
            <a:ext cx="6400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BERPIKIR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KOMPUTASIONAL</a:t>
            </a:r>
            <a:endParaRPr lang="en-US" sz="3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0906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7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Pengertian, manfaat, dan cara menerapkannya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952" y="3749040"/>
            <a:ext cx="5550408" cy="0"/>
          </a:xfrm>
          <a:prstGeom prst="line">
            <a:avLst/>
          </a:prstGeom>
          <a:noFill/>
          <a:ln w="15240">
            <a:solidFill>
              <a:srgbClr val="3855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9684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Informatika • Kelas XII • SMA Negeri Colomadu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352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098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Disusun oleh Erwin Fajariansyah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85632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87968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90304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94976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97312" y="10241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5632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87968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0304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0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94976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97312" y="14264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85632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87968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90304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94976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97312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83296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85632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87968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90304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92640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94976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97312" y="22311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83296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85632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87968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90304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92640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94976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97312" y="2633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83296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85632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87968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90304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92640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94976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97312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0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83296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85632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87968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90304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0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94976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97312" y="34381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80960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83296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85632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87968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90304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0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94976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497312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3A53"/>
          </a:solidFill>
          <a:ln w="12700">
            <a:solidFill>
              <a:srgbClr val="1D3A5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78040" y="4480560"/>
            <a:ext cx="1965960" cy="612648"/>
          </a:xfrm>
          <a:prstGeom prst="roundRect">
            <a:avLst>
              <a:gd name="adj" fmla="val 20896"/>
            </a:avLst>
          </a:prstGeom>
          <a:solidFill>
            <a:srgbClr val="18364F"/>
          </a:solidFill>
          <a:ln w="12700">
            <a:solidFill>
              <a:srgbClr val="2D506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315200" y="45811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7699248" y="4553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PECAH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7699248" y="47823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418320" y="4480560"/>
            <a:ext cx="1965960" cy="612648"/>
          </a:xfrm>
          <a:prstGeom prst="roundRect">
            <a:avLst>
              <a:gd name="adj" fmla="val 20896"/>
            </a:avLst>
          </a:prstGeom>
          <a:solidFill>
            <a:srgbClr val="18364F"/>
          </a:solidFill>
          <a:ln w="12700">
            <a:solidFill>
              <a:srgbClr val="2D506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555480" y="45811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9939528" y="4553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9939528" y="478231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178040" y="5266944"/>
            <a:ext cx="1965960" cy="612648"/>
          </a:xfrm>
          <a:prstGeom prst="roundRect">
            <a:avLst>
              <a:gd name="adj" fmla="val 20896"/>
            </a:avLst>
          </a:prstGeom>
          <a:solidFill>
            <a:srgbClr val="18364F"/>
          </a:solidFill>
          <a:ln w="12700">
            <a:solidFill>
              <a:srgbClr val="2D506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315200" y="5367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7699248" y="5340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7699248" y="55686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418320" y="5266944"/>
            <a:ext cx="1965960" cy="612648"/>
          </a:xfrm>
          <a:prstGeom prst="roundRect">
            <a:avLst>
              <a:gd name="adj" fmla="val 20896"/>
            </a:avLst>
          </a:prstGeom>
          <a:solidFill>
            <a:srgbClr val="18364F"/>
          </a:solidFill>
          <a:ln w="12700">
            <a:solidFill>
              <a:srgbClr val="2D506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555480" y="5367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9939528" y="5340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9939528" y="55686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 PEMBELAJARAN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memahami hingga merefleksikan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Alokasi waktu: 1 pertemuan • 3 JP × 45 menit = 135 menit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15468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121408"/>
            <a:ext cx="530352" cy="530352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852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MEMAHAMI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86968" y="3246120"/>
            <a:ext cx="1115568" cy="265176"/>
          </a:xfrm>
          <a:prstGeom prst="roundRect">
            <a:avLst>
              <a:gd name="adj" fmla="val 41379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326440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Mindful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367588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Amati masalah dan pahami empat komponen BK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105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menit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87952" y="1874520"/>
            <a:ext cx="315468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2121408"/>
            <a:ext cx="530352" cy="530352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2852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MENGAPLIKASIKAN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416552" y="3246120"/>
            <a:ext cx="1115568" cy="265176"/>
          </a:xfrm>
          <a:prstGeom prst="roundRect">
            <a:avLst>
              <a:gd name="adj" fmla="val 41379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71416" y="326440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Meaningful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367588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Pecahkan studi kasus secara berkelompok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16552" y="4105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menit*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1874520"/>
            <a:ext cx="315468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46136" y="2121408"/>
            <a:ext cx="530352" cy="530352"/>
          </a:xfrm>
          <a:prstGeom prst="ellipse">
            <a:avLst/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46136" y="22219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2852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MEREFLEKSIKAN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55280" y="3246120"/>
            <a:ext cx="1115568" cy="265176"/>
          </a:xfrm>
          <a:prstGeom prst="roundRect">
            <a:avLst>
              <a:gd name="adj" fmla="val 41379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10144" y="326440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Joyful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367588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solusi, evaluasi proses, dan refleksi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105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menit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4736592"/>
            <a:ext cx="10863072" cy="82296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9651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PBL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57400" y="4901184"/>
            <a:ext cx="15087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3120" y="4983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Orientasi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93592" y="5084064"/>
            <a:ext cx="20116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867912" y="4901184"/>
            <a:ext cx="15087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13632" y="4983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Organisasi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04104" y="5084064"/>
            <a:ext cx="20116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78424" y="4901184"/>
            <a:ext cx="15087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24144" y="4983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Penyelidikan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14616" y="5084064"/>
            <a:ext cx="20116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88936" y="4901184"/>
            <a:ext cx="15087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34656" y="4983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karya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25128" y="5084064"/>
            <a:ext cx="201168" cy="0"/>
          </a:xfrm>
          <a:prstGeom prst="line">
            <a:avLst/>
          </a:prstGeom>
          <a:noFill/>
          <a:ln w="1651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99448" y="4901184"/>
            <a:ext cx="1508760" cy="384048"/>
          </a:xfrm>
          <a:prstGeom prst="roundRect">
            <a:avLst>
              <a:gd name="adj" fmla="val 33333"/>
            </a:avLst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45168" y="4983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58064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Alokasi total: pendahuluan 15 menit + inti 105 menit (memahami 15, mengaplikasikan 75, merefleksikan 15) + penutup 15 menit = 135 menit.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 BELAJAR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Capaian dan tujuan pembelajaran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perlu dipahami dan mampu dilakukan setelah kegiatan ini?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01952"/>
            <a:ext cx="1005840" cy="265176"/>
          </a:xfrm>
          <a:prstGeom prst="roundRect">
            <a:avLst>
              <a:gd name="adj" fmla="val 41379"/>
            </a:avLst>
          </a:prstGeom>
          <a:solidFill>
            <a:srgbClr val="23455D"/>
          </a:solidFill>
          <a:ln w="12700">
            <a:solidFill>
              <a:srgbClr val="23455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1920240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FASE F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67712"/>
            <a:ext cx="10195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Peserta didik memahami pengembangan solusi berbasis komputasi, menyusun strategi algoritmik yang efektif dan efisien, serta menganalisis dan membandingkan alternatif solusi beserta kelebihan dan keterbatasannya.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493008"/>
            <a:ext cx="32461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6758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82112" y="3675888"/>
            <a:ext cx="429768" cy="265176"/>
          </a:xfrm>
          <a:prstGeom prst="roundRect">
            <a:avLst>
              <a:gd name="adj" fmla="val 41379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3694176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Menjelaskan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537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Menjelaskan pengertian dan empat komponen BK dengan bahasa sendiri.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0248" y="3493008"/>
            <a:ext cx="32461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6758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93992" y="3675888"/>
            <a:ext cx="429768" cy="265176"/>
          </a:xfrm>
          <a:prstGeom prst="roundRect">
            <a:avLst>
              <a:gd name="adj" fmla="val 41379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48856" y="3694176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Menganalisis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5537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Menganalisis minimal tiga manfaat BK dalam persoalan nyata.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82128" y="3493008"/>
            <a:ext cx="32461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36758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405872" y="3675888"/>
            <a:ext cx="429768" cy="265176"/>
          </a:xfrm>
          <a:prstGeom prst="roundRect">
            <a:avLst>
              <a:gd name="adj" fmla="val 41379"/>
            </a:avLst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60736" y="3694176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Merancang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5537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Merancang solusi kontekstual dengan empat komponen dan mempresentasikannya secara logis.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58064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Kunci keberhasilan: solusi runtut, logis, relevan, dan dapat dijelaskan.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APERSEPSI • ASESMEN DIAGNOSTIK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Pernah kewalahan mengatur jadwal?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 dari pengalamanmu sendiri sebelum masuk ke konsep.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2743200" cy="2834640"/>
          </a:xfrm>
          <a:prstGeom prst="roundRect">
            <a:avLst>
              <a:gd name="adj" fmla="val 4667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240280"/>
            <a:ext cx="1645920" cy="17830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240280"/>
            <a:ext cx="1645920" cy="438912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2359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JADWAL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27632" y="2889504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0824" y="2889504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14016" y="2889504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3200400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0824" y="3200400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4016" y="3200400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27632" y="3511296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0824" y="3511296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3511296"/>
            <a:ext cx="246888" cy="201168"/>
          </a:xfrm>
          <a:prstGeom prst="roundRect">
            <a:avLst>
              <a:gd name="adj" fmla="val 63636"/>
            </a:avLst>
          </a:prstGeom>
          <a:solidFill>
            <a:srgbClr val="E5EBF2"/>
          </a:solidFill>
          <a:ln w="12700">
            <a:solidFill>
              <a:srgbClr val="E5EBF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251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Belajar • Les • Tugas • Istirahat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1874520"/>
            <a:ext cx="704088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1874520"/>
            <a:ext cx="64008" cy="114300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70248" y="20116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pemantik 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70248" y="2368296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Pernah bingung menyusun jadwal belajar dan les yang padat? Bagaimana kamu mengaturnya?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69080" y="3246120"/>
            <a:ext cx="704088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3246120"/>
            <a:ext cx="64008" cy="1143000"/>
          </a:xfrm>
          <a:prstGeom prst="rect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70248" y="33832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pemantik 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270248" y="3739896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bedanya “asal mencoba-coba” dengan berpikir runtut dan terstruktur?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9080" y="4617720"/>
            <a:ext cx="704088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9080" y="4617720"/>
            <a:ext cx="64008" cy="1143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70248" y="47548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pemantik 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270248" y="5111496"/>
            <a:ext cx="6656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aplikasi navigasi digital dapat membantu menemukan rute tercepat?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INTI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berpikir komputasional?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Thinking • bukan sekadar aktivitas menggunakan komputer.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6537960" cy="3401568"/>
          </a:xfrm>
          <a:prstGeom prst="roundRect">
            <a:avLst>
              <a:gd name="adj" fmla="val 3763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48840"/>
            <a:ext cx="960120" cy="265176"/>
          </a:xfrm>
          <a:prstGeom prst="roundRect">
            <a:avLst>
              <a:gd name="adj" fmla="val 41379"/>
            </a:avLst>
          </a:prstGeom>
          <a:solidFill>
            <a:srgbClr val="23455D"/>
          </a:solidFill>
          <a:ln w="12700">
            <a:solidFill>
              <a:srgbClr val="23455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2167128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70048"/>
            <a:ext cx="5806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 berpikir untuk merumuskan masalah dan menyatakan solusinya agar dapat dijalankan secara efektif oleh manusia maupun komputer.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343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2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Sistematis  •  Logis  •  Dapat diulang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828800"/>
            <a:ext cx="3611880" cy="1417320"/>
          </a:xfrm>
          <a:prstGeom prst="roundRect">
            <a:avLst>
              <a:gd name="adj" fmla="val 9032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828800"/>
            <a:ext cx="64008" cy="141732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36408" y="19659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BUKAN HANYA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36408" y="2404872"/>
            <a:ext cx="3227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Menghafal kode atau mengoperasikan komputer.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3538728"/>
            <a:ext cx="3611880" cy="1691640"/>
          </a:xfrm>
          <a:prstGeom prst="roundRect">
            <a:avLst>
              <a:gd name="adj" fmla="val 7568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3538728"/>
            <a:ext cx="64008" cy="1691640"/>
          </a:xfrm>
          <a:prstGeom prst="rect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36408" y="36758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MELAINKAN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36408" y="4105656"/>
            <a:ext cx="3227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Menyusun cara penyelesaian masalah yang jelas, efektif, dan dapat diterapkan kembali.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580644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Rujukan konsep dalam modul: Wing (2006).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MANFAAT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berpikir komputasional penting?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Keterampilan ini berguna di berbagai situasi, bukan hanya saat membuat program.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2971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075688"/>
            <a:ext cx="438912" cy="438912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16712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93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Lebih efisien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67919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Menyelesaikan masalah dengan langkah yang terstruktur.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187952" y="1874520"/>
            <a:ext cx="2971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075688"/>
            <a:ext cx="438912" cy="438912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216712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46904" y="2093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Berpikir kritis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267919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Menganalisis persoalan dan membandingkan pilihan.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626096" y="1874520"/>
            <a:ext cx="2971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7264" y="2075688"/>
            <a:ext cx="438912" cy="438912"/>
          </a:xfrm>
          <a:prstGeom prst="ellipse">
            <a:avLst/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27264" y="216712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093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berbasis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67919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Memanfaatkan informasi dan pola yang relevan.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2468880" y="3794760"/>
            <a:ext cx="2971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70048" y="3995928"/>
            <a:ext cx="438912" cy="438912"/>
          </a:xfrm>
          <a:prstGeom prst="ellipse">
            <a:avLst/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0048" y="408736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27832" y="40142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Kolaboratif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688336" y="459943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Membantu tim menangani persoalan kompleks bersama.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172200" y="3794760"/>
            <a:ext cx="2971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3368" y="3995928"/>
            <a:ext cx="438912" cy="438912"/>
          </a:xfrm>
          <a:prstGeom prst="ellipse">
            <a:avLst/>
          </a:prstGeom>
          <a:solidFill>
            <a:srgbClr val="F0EBFF"/>
          </a:solidFill>
          <a:ln w="12700">
            <a:solidFill>
              <a:srgbClr val="F0EB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408736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7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40142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Lintas bidang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91656" y="459943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Menjadi bekal keterampilan abad ke-21 di berbagai profesi.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KOMPONEN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Empat alat berpikir yang saling melengkapi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Dalam satu masalah, keempat komponen biasanya digunakan bersama-sama.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2221992" cy="2331720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2523744"/>
            <a:ext cx="731520" cy="731520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53896" y="27066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478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DEKOMPOSISI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96849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Pecah masalah besar menjadi bagian kecil.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71800" y="3438144"/>
            <a:ext cx="448056" cy="0"/>
          </a:xfrm>
          <a:prstGeom prst="line">
            <a:avLst/>
          </a:prstGeom>
          <a:noFill/>
          <a:ln w="1905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2240280"/>
            <a:ext cx="2221992" cy="2331720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2523744"/>
            <a:ext cx="731520" cy="731520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6824" y="27066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5478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PENGENALAN POLA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96849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kesamaan atau kecenderungan.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24728" y="3438144"/>
            <a:ext cx="448056" cy="0"/>
          </a:xfrm>
          <a:prstGeom prst="line">
            <a:avLst/>
          </a:prstGeom>
          <a:noFill/>
          <a:ln w="1905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19088" y="2240280"/>
            <a:ext cx="2221992" cy="2331720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9752" y="2523744"/>
            <a:ext cx="731520" cy="731520"/>
          </a:xfrm>
          <a:prstGeom prst="ellipse">
            <a:avLst/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59752" y="27066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35478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ABSTRAKSI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96849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pada inti; abaikan detail tak relevan.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77656" y="3438144"/>
            <a:ext cx="448056" cy="0"/>
          </a:xfrm>
          <a:prstGeom prst="line">
            <a:avLst/>
          </a:prstGeom>
          <a:noFill/>
          <a:ln w="1905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72016" y="2240280"/>
            <a:ext cx="2221992" cy="2331720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12680" y="2523744"/>
            <a:ext cx="731520" cy="731520"/>
          </a:xfrm>
          <a:prstGeom prst="ellipse">
            <a:avLst/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12680" y="27066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381744" y="35478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36608" y="396849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 langkah logis secara berurutan.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" y="5074920"/>
            <a:ext cx="10287000" cy="594360"/>
          </a:xfrm>
          <a:prstGeom prst="roundRect">
            <a:avLst>
              <a:gd name="adj" fmla="val 21538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0432" y="52669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Pahami masalah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90088" y="5367528"/>
            <a:ext cx="704088" cy="0"/>
          </a:xfrm>
          <a:prstGeom prst="line">
            <a:avLst/>
          </a:prstGeom>
          <a:noFill/>
          <a:ln w="2032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822192" y="5266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solusi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0" y="5367528"/>
            <a:ext cx="731520" cy="0"/>
          </a:xfrm>
          <a:prstGeom prst="line">
            <a:avLst/>
          </a:prstGeom>
          <a:noFill/>
          <a:ln w="2032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254496" y="5266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dan perbaiki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19872" y="5367528"/>
            <a:ext cx="731520" cy="0"/>
          </a:xfrm>
          <a:prstGeom prst="line">
            <a:avLst/>
          </a:prstGeom>
          <a:noFill/>
          <a:ln w="20320">
            <a:solidFill>
              <a:srgbClr val="12B8A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961120" y="5266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kembali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Dekomposisi: pecah masalah menjadi bagian kecil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pada modul: mengelola acara perpisahan sekolah.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0" y="1874520"/>
            <a:ext cx="3246120" cy="795528"/>
          </a:xfrm>
          <a:prstGeom prst="roundRect">
            <a:avLst>
              <a:gd name="adj" fmla="val 16092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53712" y="211226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ACARA PERPISAHAN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07608" y="2670048"/>
            <a:ext cx="0" cy="457200"/>
          </a:xfrm>
          <a:prstGeom prst="line">
            <a:avLst/>
          </a:prstGeom>
          <a:noFill/>
          <a:ln w="21590">
            <a:solidFill>
              <a:srgbClr val="12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127248"/>
            <a:ext cx="8001000" cy="0"/>
          </a:xfrm>
          <a:prstGeom prst="line">
            <a:avLst/>
          </a:prstGeom>
          <a:noFill/>
          <a:ln w="21590">
            <a:solidFill>
              <a:srgbClr val="12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3127248"/>
            <a:ext cx="0" cy="329184"/>
          </a:xfrm>
          <a:prstGeom prst="line">
            <a:avLst/>
          </a:prstGeom>
          <a:noFill/>
          <a:ln w="19050">
            <a:solidFill>
              <a:srgbClr val="12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2011680" cy="1024128"/>
          </a:xfrm>
          <a:prstGeom prst="roundRect">
            <a:avLst>
              <a:gd name="adj" fmla="val 12500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" y="363931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Dekorasi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3127248"/>
            <a:ext cx="0" cy="329184"/>
          </a:xfrm>
          <a:prstGeom prst="line">
            <a:avLst/>
          </a:prstGeom>
          <a:noFill/>
          <a:ln w="19050">
            <a:solidFill>
              <a:srgbClr val="5577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3456432"/>
            <a:ext cx="2011680" cy="1024128"/>
          </a:xfrm>
          <a:prstGeom prst="roundRect">
            <a:avLst>
              <a:gd name="adj" fmla="val 12500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58184" y="363931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58184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Konsumsi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60920" y="3127248"/>
            <a:ext cx="0" cy="329184"/>
          </a:xfrm>
          <a:prstGeom prst="line">
            <a:avLst/>
          </a:prstGeom>
          <a:noFill/>
          <a:ln w="19050">
            <a:solidFill>
              <a:srgbClr val="F176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456432"/>
            <a:ext cx="2011680" cy="1024128"/>
          </a:xfrm>
          <a:prstGeom prst="roundRect">
            <a:avLst>
              <a:gd name="adj" fmla="val 12500"/>
            </a:avLst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1384" y="363931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Hiburan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04120" y="3127248"/>
            <a:ext cx="0" cy="329184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3456432"/>
            <a:ext cx="2011680" cy="1024128"/>
          </a:xfrm>
          <a:prstGeom prst="roundRect">
            <a:avLst>
              <a:gd name="adj" fmla="val 12500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4584" y="363931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44584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Dokumentasi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4983480"/>
            <a:ext cx="9966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25880" y="519379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berpikir: bagian mana yang dapat ditangani atau direncanakan secara terpisah?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Pengenalan pola: temukan kesamaan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 membantu kita menggunakan strategi yang pernah berhasil pada persoalan serupa.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0" cy="3383280"/>
          </a:xfrm>
          <a:prstGeom prst="roundRect">
            <a:avLst>
              <a:gd name="adj" fmla="val 3784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2139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SOAL UJIAN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78992" y="2724912"/>
            <a:ext cx="388620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25296" y="28346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Soal 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84832" y="2834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Menghitung persentase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3328416"/>
            <a:ext cx="388620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25296" y="34381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Soal B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84832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Menghitung persentase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78992" y="3931920"/>
            <a:ext cx="388620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25296" y="40416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Soal 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84832" y="4041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Menghitung persentase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6817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 serupa bisa disiapkan kembali.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828800"/>
            <a:ext cx="5349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828800"/>
            <a:ext cx="64008" cy="1280160"/>
          </a:xfrm>
          <a:prstGeom prst="rect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9048" y="196596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 MENCARI POLA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99048" y="237744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beberapa kejadian atau soal: bagian mana yang sama, dan bagian mana yang berbeda?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7880" y="3401568"/>
            <a:ext cx="53492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3401568"/>
            <a:ext cx="64008" cy="128016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99048" y="353872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MANFAAT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099048" y="3950208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 penyelesaian dapat dipakai berulang untuk persoalan dengan karakteristik serupa.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80176" y="50749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 bukan berarti semua masalah harus diselesaikan dengan cara yang persis sama.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Abstraksi: fokus pada informasi penting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Ambil inti persoalan dan abaikan detail yang tidak memengaruhi solusi.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084832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E7EAF1"/>
          </a:solidFill>
          <a:ln w="12700">
            <a:solidFill>
              <a:srgbClr val="E7EAF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28600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D9E4E9"/>
          </a:solidFill>
          <a:ln w="12700">
            <a:solidFill>
              <a:srgbClr val="D9E4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210312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242316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E7EAF1"/>
          </a:solidFill>
          <a:ln w="12700">
            <a:solidFill>
              <a:srgbClr val="E7EAF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425196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D9E4E9"/>
          </a:solidFill>
          <a:ln w="12700">
            <a:solidFill>
              <a:srgbClr val="D9E4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416052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DDE5EE"/>
          </a:solidFill>
          <a:ln w="12700">
            <a:solidFill>
              <a:srgbClr val="DDE5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4297680"/>
            <a:ext cx="438912" cy="310896"/>
          </a:xfrm>
          <a:prstGeom prst="roundRect">
            <a:avLst>
              <a:gd name="adj" fmla="val 41176"/>
            </a:avLst>
          </a:prstGeom>
          <a:solidFill>
            <a:srgbClr val="E7EAF1"/>
          </a:solidFill>
          <a:ln w="12700">
            <a:solidFill>
              <a:srgbClr val="E7EA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54680"/>
            <a:ext cx="4983480" cy="0"/>
          </a:xfrm>
          <a:prstGeom prst="line">
            <a:avLst/>
          </a:prstGeom>
          <a:noFill/>
          <a:ln w="88900">
            <a:solidFill>
              <a:srgbClr val="BCC8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874520"/>
            <a:ext cx="0" cy="3108960"/>
          </a:xfrm>
          <a:prstGeom prst="line">
            <a:avLst/>
          </a:prstGeom>
          <a:noFill/>
          <a:ln w="63500">
            <a:solidFill>
              <a:srgbClr val="BCC8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874520"/>
            <a:ext cx="0" cy="3108960"/>
          </a:xfrm>
          <a:prstGeom prst="line">
            <a:avLst/>
          </a:prstGeom>
          <a:noFill/>
          <a:ln w="63500">
            <a:solidFill>
              <a:srgbClr val="BCC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617720"/>
            <a:ext cx="4846320" cy="0"/>
          </a:xfrm>
          <a:prstGeom prst="line">
            <a:avLst/>
          </a:prstGeom>
          <a:noFill/>
          <a:ln w="50800">
            <a:solidFill>
              <a:srgbClr val="BCC8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3154680"/>
            <a:ext cx="4306824" cy="1463040"/>
          </a:xfrm>
          <a:prstGeom prst="line">
            <a:avLst/>
          </a:prstGeom>
          <a:noFill/>
          <a:ln w="38100">
            <a:solidFill>
              <a:srgbClr val="12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017520"/>
            <a:ext cx="274320" cy="27432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4489704"/>
            <a:ext cx="274320" cy="274320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2743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010912" y="48371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5074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gedung tidak diperlukan untuk memilih rute utama.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0840" y="1828800"/>
            <a:ext cx="4434840" cy="1417320"/>
          </a:xfrm>
          <a:prstGeom prst="roundRect">
            <a:avLst>
              <a:gd name="adj" fmla="val 9032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828800"/>
            <a:ext cx="64008" cy="141732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22008" y="19659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ABSTRAKSI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24231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apa yang benar-benar memengaruhi jawaban?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20840" y="3538728"/>
            <a:ext cx="44348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3538728"/>
            <a:ext cx="64008" cy="1417320"/>
          </a:xfrm>
          <a:prstGeom prst="rect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22008" y="367588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22008" y="41330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Peta rute menonjolkan jalan utama dan mengurangi detail lingkungan yang tidak relevan.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Algoritma: susun langkah secara logis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Urutan instruksi harus jelas, runtut, dan dapat diikuti kembali.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MEMBUAT MI INSTAN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" y="2249424"/>
            <a:ext cx="4480560" cy="438912"/>
          </a:xfrm>
          <a:prstGeom prst="roundRect">
            <a:avLst>
              <a:gd name="adj" fmla="val 29167"/>
            </a:avLst>
          </a:prstGeom>
          <a:solidFill>
            <a:srgbClr val="E2F7F4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322576"/>
            <a:ext cx="292608" cy="292608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3774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3591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alat dan bahan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27248" y="2697480"/>
            <a:ext cx="0" cy="155448"/>
          </a:xfrm>
          <a:prstGeom prst="line">
            <a:avLst/>
          </a:prstGeom>
          <a:noFill/>
          <a:ln w="1524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6112" y="2889504"/>
            <a:ext cx="448056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962656"/>
            <a:ext cx="292608" cy="292608"/>
          </a:xfrm>
          <a:prstGeom prst="ellipse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301752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536192" y="29992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Rebus air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27248" y="3337560"/>
            <a:ext cx="0" cy="155448"/>
          </a:xfrm>
          <a:prstGeom prst="line">
            <a:avLst/>
          </a:prstGeom>
          <a:noFill/>
          <a:ln w="1524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" y="3529584"/>
            <a:ext cx="448056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" y="3602736"/>
            <a:ext cx="292608" cy="292608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2416" y="36576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36393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Masukkan mi dan masak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27248" y="3977640"/>
            <a:ext cx="0" cy="155448"/>
          </a:xfrm>
          <a:prstGeom prst="line">
            <a:avLst/>
          </a:prstGeom>
          <a:noFill/>
          <a:ln w="1524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6112" y="4169664"/>
            <a:ext cx="448056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4242816"/>
            <a:ext cx="292608" cy="29260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2416" y="42976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536192" y="42793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bumbu di mangkuk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27248" y="4617720"/>
            <a:ext cx="0" cy="155448"/>
          </a:xfrm>
          <a:prstGeom prst="line">
            <a:avLst/>
          </a:prstGeom>
          <a:noFill/>
          <a:ln w="1524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96112" y="4809744"/>
            <a:ext cx="448056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" y="4882896"/>
            <a:ext cx="292608" cy="292608"/>
          </a:xfrm>
          <a:prstGeom prst="ellipse">
            <a:avLst/>
          </a:prstGeom>
          <a:solidFill>
            <a:srgbClr val="9277D8"/>
          </a:solidFill>
          <a:ln w="12700">
            <a:solidFill>
              <a:srgbClr val="9277D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" y="493776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536192" y="49194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Campur dan sajikan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1938528"/>
            <a:ext cx="4937760" cy="3246120"/>
          </a:xfrm>
          <a:prstGeom prst="roundRect">
            <a:avLst>
              <a:gd name="adj" fmla="val 3944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22860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CIRI ALGORITMA YANG BAIK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8232" y="2852928"/>
            <a:ext cx="228600" cy="2286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93992" y="28346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Jelas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156448" y="28346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Instruksi mudah dipahami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28232" y="3337560"/>
            <a:ext cx="228600" cy="228600"/>
          </a:xfrm>
          <a:prstGeom prst="ellipse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93992" y="33192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Berurutan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156448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mengikuti logika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28232" y="3822192"/>
            <a:ext cx="228600" cy="2286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93992" y="38039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156448" y="380390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dapat diulang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28232" y="4306824"/>
            <a:ext cx="228600" cy="228600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93992" y="42885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Dapat diuji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156448" y="42885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diperiksa dan diperbaiki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PENERAPAN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Menyusun jadwal belajar untuk 6 mata pelajaran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Kasus bahan bacaan: waktu tersedia 5 hari menjelang ujian.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212848" cy="27432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76272"/>
            <a:ext cx="566928" cy="484632"/>
          </a:xfrm>
          <a:prstGeom prst="roundRect">
            <a:avLst>
              <a:gd name="adj" fmla="val 26415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304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803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DEKOMPOSISI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 6 mapel, waktu tiap mapel, dan hari yang tersedia.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53512" y="3310128"/>
            <a:ext cx="411480" cy="0"/>
          </a:xfrm>
          <a:prstGeom prst="line">
            <a:avLst/>
          </a:prstGeom>
          <a:noFill/>
          <a:ln w="1778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1965960"/>
            <a:ext cx="2212848" cy="27432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2176272"/>
            <a:ext cx="566928" cy="484632"/>
          </a:xfrm>
          <a:prstGeom prst="roundRect">
            <a:avLst>
              <a:gd name="adj" fmla="val 26415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0752" y="2304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8803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Mapel hitungan perlu latihan berulang; hafalan perlu pengulangan singkat.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88152" y="3310128"/>
            <a:ext cx="411480" cy="0"/>
          </a:xfrm>
          <a:prstGeom prst="line">
            <a:avLst/>
          </a:prstGeom>
          <a:noFill/>
          <a:ln w="1778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1965960"/>
            <a:ext cx="2212848" cy="27432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176272"/>
            <a:ext cx="566928" cy="484632"/>
          </a:xfrm>
          <a:prstGeom prst="roundRect">
            <a:avLst>
              <a:gd name="adj" fmla="val 26415"/>
            </a:avLst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2304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28803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ABSTRAKSI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pada urutan ujian dan kesulitan; abaikan warna buku.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22792" y="3310128"/>
            <a:ext cx="411480" cy="0"/>
          </a:xfrm>
          <a:prstGeom prst="line">
            <a:avLst/>
          </a:prstGeom>
          <a:noFill/>
          <a:ln w="1778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5440" y="1965960"/>
            <a:ext cx="2212848" cy="27432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2176272"/>
            <a:ext cx="566928" cy="484632"/>
          </a:xfrm>
          <a:prstGeom prst="roundRect">
            <a:avLst>
              <a:gd name="adj" fmla="val 26415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00032" y="2304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00032" y="28803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Urutkan ujian, alokasikan waktu, sisipkan jeda, evaluasi.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5166360"/>
            <a:ext cx="9966960" cy="566928"/>
          </a:xfrm>
          <a:prstGeom prst="roundRect">
            <a:avLst>
              <a:gd name="adj" fmla="val 22581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98448" y="5349240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yang diharapkan: jadwal runtut, dapat dievaluasi setiap malam, dan disesuaikan bila perlu.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• PBL SINTAKS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Bagaimana aplikasi navigasi mencari rute?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pemantik untuk penyelidikan: informasi apa yang diolah dan langkah berpikir apa yang dilakukan?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548640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468880"/>
            <a:ext cx="1600200" cy="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2468880"/>
            <a:ext cx="1828800" cy="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468880"/>
            <a:ext cx="0" cy="128016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3749040"/>
            <a:ext cx="1600200" cy="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3749040"/>
            <a:ext cx="1828800" cy="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468880"/>
            <a:ext cx="0" cy="128016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749040"/>
            <a:ext cx="0" cy="86868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4617720"/>
            <a:ext cx="2651760" cy="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3749040"/>
            <a:ext cx="822960" cy="86868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468880"/>
            <a:ext cx="0" cy="128016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2468880"/>
            <a:ext cx="1600200" cy="0"/>
          </a:xfrm>
          <a:prstGeom prst="line">
            <a:avLst/>
          </a:prstGeom>
          <a:noFill/>
          <a:ln w="40640">
            <a:solidFill>
              <a:srgbClr val="12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468880"/>
            <a:ext cx="0" cy="1280160"/>
          </a:xfrm>
          <a:prstGeom prst="line">
            <a:avLst/>
          </a:prstGeom>
          <a:noFill/>
          <a:ln w="40640">
            <a:solidFill>
              <a:srgbClr val="12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749040"/>
            <a:ext cx="1828800" cy="0"/>
          </a:xfrm>
          <a:prstGeom prst="line">
            <a:avLst/>
          </a:prstGeom>
          <a:noFill/>
          <a:ln w="40640">
            <a:solidFill>
              <a:srgbClr val="12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749040"/>
            <a:ext cx="822960" cy="868680"/>
          </a:xfrm>
          <a:prstGeom prst="line">
            <a:avLst/>
          </a:prstGeom>
          <a:noFill/>
          <a:ln w="40640">
            <a:solidFill>
              <a:srgbClr val="12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" y="2304288"/>
            <a:ext cx="329184" cy="3291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22392" y="4453128"/>
            <a:ext cx="329184" cy="329184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2029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846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1828800"/>
            <a:ext cx="4343400" cy="868680"/>
          </a:xfrm>
          <a:prstGeom prst="roundRect">
            <a:avLst>
              <a:gd name="adj" fmla="val 14737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1828800"/>
            <a:ext cx="64008" cy="86868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19659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2322576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Titik awal, tujuan, dan pilihan rute.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2880360"/>
            <a:ext cx="4343400" cy="868680"/>
          </a:xfrm>
          <a:prstGeom prst="roundRect">
            <a:avLst>
              <a:gd name="adj" fmla="val 14737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880360"/>
            <a:ext cx="64008" cy="868680"/>
          </a:xfrm>
          <a:prstGeom prst="rect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0568" y="30175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30568" y="3374136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pilihan rute dengan kriteria yang relevan.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3931920"/>
            <a:ext cx="4343400" cy="868680"/>
          </a:xfrm>
          <a:prstGeom prst="roundRect">
            <a:avLst>
              <a:gd name="adj" fmla="val 14737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3931920"/>
            <a:ext cx="64008" cy="8686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30568" y="40690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830568" y="4425696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solusi yang paling sesuai dengan kebutuhan.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50749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Diskusikan: apa yang termasuk informasi penting, pola, dan langkah algoritmik?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LKPD • MEMAHAMI MASALAH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 Rafi: perjalanan ke tiga kota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Waktu dan biaya terbatas, tetapi seluruh kota harus dikunjungi.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703320" cy="3429000"/>
          </a:xfrm>
          <a:prstGeom prst="roundRect">
            <a:avLst>
              <a:gd name="adj" fmla="val 3733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2402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KOTA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WAKTU TERBATAS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478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BIAYA TERBATAS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4361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kota harus dikunjungi.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828800"/>
            <a:ext cx="60807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93792" y="2029968"/>
            <a:ext cx="393192" cy="393192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2139696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779008" y="1984248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mana yang dapat dipecah menjadi langkah-langkah kecil?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971800"/>
            <a:ext cx="60807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3172968"/>
            <a:ext cx="393192" cy="393192"/>
          </a:xfrm>
          <a:prstGeom prst="ellipse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93792" y="3282696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779008" y="3127248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apa yang perlu diketahui sebelum menyusun rencana?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4114800"/>
            <a:ext cx="60807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3792" y="4315968"/>
            <a:ext cx="393192" cy="393192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93792" y="4425696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779008" y="4270248"/>
            <a:ext cx="4910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bedanya “asal jalan” dengan berpikir komputasional?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47488" y="54132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Kerjakan dalam kelompok; catat alasan untuk setiap keputusan.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PBL • ORGANISASI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Kerja kelompok: 4–5 orang, peran jelas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Sintaks 2: mengorganisasi peserta didik untuk belajar.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21488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7048" y="2304288"/>
            <a:ext cx="603504" cy="603504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27048" y="246888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Ketua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575304"/>
            <a:ext cx="1819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Mengatur alur diskusi dan memastikan semua terlibat.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21488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304288"/>
            <a:ext cx="603504" cy="603504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1688" y="246888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Pencatat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76472" y="3575304"/>
            <a:ext cx="1819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Mencatat informasi penting dan keputusan.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2057400"/>
            <a:ext cx="21488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6328" y="2304288"/>
            <a:ext cx="603504" cy="603504"/>
          </a:xfrm>
          <a:prstGeom prst="ellipse">
            <a:avLst/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96328" y="246888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5624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Penggambar diagram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575304"/>
            <a:ext cx="1819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Memvisualisasikan langkah menjadi diagram/flowchart.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81160" y="2057400"/>
            <a:ext cx="21488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30968" y="2304288"/>
            <a:ext cx="603504" cy="603504"/>
          </a:xfrm>
          <a:prstGeom prst="ellipse">
            <a:avLst/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30968" y="246888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445752" y="3575304"/>
            <a:ext cx="1819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Menyampaikan solusi dan alasan kelompok.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1560" y="4617720"/>
            <a:ext cx="10104120" cy="868680"/>
          </a:xfrm>
          <a:prstGeom prst="roundRect">
            <a:avLst>
              <a:gd name="adj" fmla="val 14737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07592" y="49011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 kerja: dengarkan pendapat • bagi kesempatan berbicara • pilih solusi berdasarkan alasan • dokumentasikan proses.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PBL • PENYELIDIKAN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Tantangan utama: susun jadwal piket satu bulan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Jadwal harus adil, efisien, dan mudah diingat seluruh siswa.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38528"/>
            <a:ext cx="2212848" cy="25146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67128"/>
            <a:ext cx="1883664" cy="457200"/>
          </a:xfrm>
          <a:prstGeom prst="roundRect">
            <a:avLst>
              <a:gd name="adj" fmla="val 28000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30428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DEKOMPOSISI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52928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Pecah tugas menjadi data siswa, hari piket, hari libur, dan pembagian tugas.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53512" y="3154680"/>
            <a:ext cx="411480" cy="0"/>
          </a:xfrm>
          <a:prstGeom prst="line">
            <a:avLst/>
          </a:prstGeom>
          <a:noFill/>
          <a:ln w="1778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938528"/>
            <a:ext cx="2212848" cy="25146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2167128"/>
            <a:ext cx="1883664" cy="457200"/>
          </a:xfrm>
          <a:prstGeom prst="roundRect">
            <a:avLst>
              <a:gd name="adj" fmla="val 28000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76472" y="230428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PENGENALAN POLA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pola hari sekolah, giliran, dan pembagian yang berulang.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88152" y="3154680"/>
            <a:ext cx="411480" cy="0"/>
          </a:xfrm>
          <a:prstGeom prst="line">
            <a:avLst/>
          </a:prstGeom>
          <a:noFill/>
          <a:ln w="1778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1938528"/>
            <a:ext cx="2212848" cy="25146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2167128"/>
            <a:ext cx="1883664" cy="457200"/>
          </a:xfrm>
          <a:prstGeom prst="roundRect">
            <a:avLst>
              <a:gd name="adj" fmla="val 28000"/>
            </a:avLst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11112" y="230428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ABSTRAKSI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852928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pada kehadiran dan pemerataan; abaikan detail yang tidak memengaruhi jadwal.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22792" y="3154680"/>
            <a:ext cx="411480" cy="0"/>
          </a:xfrm>
          <a:prstGeom prst="line">
            <a:avLst/>
          </a:prstGeom>
          <a:noFill/>
          <a:ln w="17780">
            <a:solidFill>
              <a:srgbClr val="9BB0C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35440" y="1938528"/>
            <a:ext cx="2212848" cy="251460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00032" y="2167128"/>
            <a:ext cx="1883664" cy="457200"/>
          </a:xfrm>
          <a:prstGeom prst="roundRect">
            <a:avLst>
              <a:gd name="adj" fmla="val 28000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45752" y="230428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852928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 aturan giliran, buat jadwal, lalu periksa keadilan dan benturan.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892040"/>
            <a:ext cx="10424160" cy="640080"/>
          </a:xfrm>
          <a:prstGeom prst="roundRect">
            <a:avLst>
              <a:gd name="adj" fmla="val 20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102352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 kelompok: tabel jadwal + diagram langkah penyelesaian + alasan mengapa solusi dianggap adil dan efisien.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PBL • PRODUK KELOMPOK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Ubah solusi menjadi diagram yang mudah dibaca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Sintaks 4: mengembangkan dan menyajikan hasil karya.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233172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87168"/>
            <a:ext cx="301752" cy="301752"/>
          </a:xfrm>
          <a:prstGeom prst="ellipse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6946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Kumpulkan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78608" y="2843784"/>
            <a:ext cx="320040" cy="0"/>
          </a:xfrm>
          <a:prstGeom prst="line">
            <a:avLst/>
          </a:prstGeom>
          <a:noFill/>
          <a:ln w="19050">
            <a:solidFill>
              <a:srgbClr val="8B9DB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233172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9816" y="2487168"/>
            <a:ext cx="301752" cy="301752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9816" y="256946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Pecah kebutuhan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 batasan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37176" y="2843784"/>
            <a:ext cx="320040" cy="0"/>
          </a:xfrm>
          <a:prstGeom prst="line">
            <a:avLst/>
          </a:prstGeom>
          <a:noFill/>
          <a:ln w="19050">
            <a:solidFill>
              <a:srgbClr val="8B9D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233172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8384" y="2487168"/>
            <a:ext cx="301752" cy="3017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8384" y="256946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705856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Susun aturan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giliran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95744" y="2843784"/>
            <a:ext cx="320040" cy="0"/>
          </a:xfrm>
          <a:prstGeom prst="line">
            <a:avLst/>
          </a:prstGeom>
          <a:noFill/>
          <a:ln w="19050">
            <a:solidFill>
              <a:srgbClr val="8B9D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88936" y="233172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6952" y="2487168"/>
            <a:ext cx="301752" cy="301752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16952" y="256946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964424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jadwal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piket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54312" y="2843784"/>
            <a:ext cx="320040" cy="0"/>
          </a:xfrm>
          <a:prstGeom prst="line">
            <a:avLst/>
          </a:prstGeom>
          <a:noFill/>
          <a:ln w="19050">
            <a:solidFill>
              <a:srgbClr val="8B9D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47504" y="2331720"/>
            <a:ext cx="1691640" cy="1024128"/>
          </a:xfrm>
          <a:prstGeom prst="roundRect">
            <a:avLst>
              <a:gd name="adj" fmla="val 12500"/>
            </a:avLst>
          </a:prstGeom>
          <a:solidFill>
            <a:srgbClr val="F0EBFF"/>
          </a:solidFill>
          <a:ln w="12700">
            <a:solidFill>
              <a:srgbClr val="F0E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2487168"/>
            <a:ext cx="301752" cy="301752"/>
          </a:xfrm>
          <a:prstGeom prst="ellipse">
            <a:avLst/>
          </a:prstGeom>
          <a:solidFill>
            <a:srgbClr val="9277D8"/>
          </a:solidFill>
          <a:ln w="12700">
            <a:solidFill>
              <a:srgbClr val="9277D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0" y="256946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222992" y="25146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dan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perbaiki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3977640"/>
            <a:ext cx="10332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70432" y="41696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dengan pertanyaan berikut: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41422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73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giliran merata?  •  Apakah hari libur diperhitungkan?  •  Apakah jadwal mudah dipahami?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52852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 contoh alur awal. Kelompok boleh mengembangkan alur sesuai hasil penyelidikannya.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PBL • BERBAGI HASIL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Presentasikan solusi, lalu beri umpan balik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kelompok memaparkan diagram dan alasan pemilihan langkah.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663440" cy="3429000"/>
          </a:xfrm>
          <a:prstGeom prst="roundRect">
            <a:avLst>
              <a:gd name="adj" fmla="val 3733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0432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KELOMPOK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25880" y="2880360"/>
            <a:ext cx="219456" cy="21945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9928" y="28620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yang diselesaikan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25880" y="3355848"/>
            <a:ext cx="219456" cy="219456"/>
          </a:xfrm>
          <a:prstGeom prst="ellipse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09928" y="33375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Penerapan 4 komponen BK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3831336"/>
            <a:ext cx="219456" cy="21945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09928" y="38130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/ algoritma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25880" y="4306824"/>
            <a:ext cx="219456" cy="219456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09928" y="42885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Alasan solusi dinilai efisien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920240"/>
            <a:ext cx="4846320" cy="1280160"/>
          </a:xfrm>
          <a:prstGeom prst="roundRect">
            <a:avLst>
              <a:gd name="adj" fmla="val 10000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920240"/>
            <a:ext cx="64008" cy="1280160"/>
          </a:xfrm>
          <a:prstGeom prst="rect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057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APRESIASI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468880"/>
            <a:ext cx="4462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Sebutkan bagian solusi yang jelas, kreatif, atau membantu.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493008"/>
            <a:ext cx="4846320" cy="1280160"/>
          </a:xfrm>
          <a:prstGeom prst="roundRect">
            <a:avLst>
              <a:gd name="adj" fmla="val 10000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493008"/>
            <a:ext cx="64008" cy="12801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3630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PERTANYAAN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4041648"/>
            <a:ext cx="4462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Tanyakan hal yang ingin diperjelas atau diuji dari solusi kelompok.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53912" y="513892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Komunikasikan ide dengan runtut dan hargai perbedaan pendekatan.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PBL • MENGEVALUASI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Bagaimana menilai solusi yang lebih efisien?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Sintaks 5: analisis solusi antarkelompok dan evaluasi proses pemecahan masalah.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828800"/>
            <a:ext cx="51663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48256"/>
            <a:ext cx="438912" cy="438912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671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Efisiensi waktu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4140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solusi menghemat waktu dan langkah yang tidak perlu?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36792" y="1828800"/>
            <a:ext cx="51663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048256"/>
            <a:ext cx="438912" cy="438912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1671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59752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Konsistensi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24140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langkah memberi hasil yang stabil dan dapat diulang?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456432"/>
            <a:ext cx="51663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675888"/>
            <a:ext cx="438912" cy="438912"/>
          </a:xfrm>
          <a:prstGeom prst="ellipse">
            <a:avLst/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794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Mudah dievaluasi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4041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solusi bisa diperiksa dan diperbaiki?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36792" y="3456432"/>
            <a:ext cx="51663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3675888"/>
            <a:ext cx="438912" cy="438912"/>
          </a:xfrm>
          <a:prstGeom prst="ellipse">
            <a:avLst/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794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Dapat diterapkan kembali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4041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Apakah cara berpikirnya membantu masalah serupa?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5840" y="5321808"/>
            <a:ext cx="10149840" cy="502920"/>
          </a:xfrm>
          <a:prstGeom prst="roundRect">
            <a:avLst>
              <a:gd name="adj" fmla="val 25455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16152" y="5477256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Solusi terbaik bukan hanya “selesai”, tetapi punya alasan yang jelas dan layak diuji.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PEMAHAMAN • FORMATIF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Uji konsep sebelum melanjutkan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Diskusikan jawaban secara singkat atau gunakan pertanyaan ini sebagai kuis Quizizz/Kahoot!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51206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029968"/>
            <a:ext cx="438912" cy="438912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1488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01168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Memecah masalah besar menjadi bagian kecil disebut…</a:t>
            </a:r>
            <a:endParaRPr lang="en-US" sz="122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Jawaban: Dekomposisi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51206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2029968"/>
            <a:ext cx="438912" cy="438912"/>
          </a:xfrm>
          <a:prstGeom prst="ellipse">
            <a:avLst/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7376" y="21488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01168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Mengabaikan detail yang tidak relevan merupakan…</a:t>
            </a:r>
            <a:endParaRPr lang="en-US" sz="122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Jawaban: Abstraksi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3474720"/>
            <a:ext cx="51206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675888"/>
            <a:ext cx="438912" cy="438912"/>
          </a:xfrm>
          <a:prstGeom prst="ellipse">
            <a:avLst/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794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65760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Urutan langkah yang logis untuk menyelesaikan masalah adalah…</a:t>
            </a:r>
            <a:endParaRPr lang="en-US" sz="122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42611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Jawaban: Algoritma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3474720"/>
            <a:ext cx="51206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3675888"/>
            <a:ext cx="438912" cy="438912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37947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65760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Mengenali kemiripan pada beberapa persoalan berarti…</a:t>
            </a:r>
            <a:endParaRPr lang="en-US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42611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Jawaban: Pengenalan pola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44068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Minta peserta didik menyebutkan satu contoh untuk setiap komponen.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ASESMEN SUMATIF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Lima soal uraian untuk mengukur pemahaman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Jawablah dengan alasan yang logis dan contoh yang relevan.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51663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75104"/>
            <a:ext cx="393192" cy="393192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8483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01952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Jelaskan pengertian berpikir komputasional dan sebutkan empat komponen utamanya.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49808" y="2990088"/>
            <a:ext cx="51663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209544"/>
            <a:ext cx="393192" cy="393192"/>
          </a:xfrm>
          <a:prstGeom prst="ellipse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1927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36392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bagaimana empat komponen BK membantu siswa menyelesaikan 5 tugas dengan tenggat berbeda dalam satu minggu.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49808" y="4224528"/>
            <a:ext cx="516636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43984"/>
            <a:ext cx="393192" cy="393192"/>
          </a:xfrm>
          <a:prstGeom prst="ellipse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55371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70832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strategi coba-coba tanpa rencana dengan berpikir komputasional. Apa manfaat strategi kedua?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309360" y="1755648"/>
            <a:ext cx="51206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975104"/>
            <a:ext cx="393192" cy="39319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208483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22592" y="19019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Rancang langkah BK untuk mengatur uang saku bulanan agar cukup hingga akhir bulan.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309360" y="2990088"/>
            <a:ext cx="512064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209544"/>
            <a:ext cx="393192" cy="393192"/>
          </a:xfrm>
          <a:prstGeom prst="ellipse">
            <a:avLst/>
          </a:prstGeom>
          <a:solidFill>
            <a:srgbClr val="9277D8"/>
          </a:solidFill>
          <a:ln w="12700">
            <a:solidFill>
              <a:srgbClr val="9277D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331927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31363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BK penting bagi semua orang, bukan hanya calon programmer? Berikan argumenmu.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309360" y="5458968"/>
            <a:ext cx="5120640" cy="402336"/>
          </a:xfrm>
          <a:prstGeom prst="roundRect">
            <a:avLst>
              <a:gd name="adj" fmla="val 31818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5568696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6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Skor maksimal 100 • setiap soal bernilai 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 • REFLEKSI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yang sudah berubah dari cara berpikirmu?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Lengkapi exit ticket dan tentukan langkah belajar berikutnya.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" y="1828800"/>
            <a:ext cx="5577840" cy="3474720"/>
          </a:xfrm>
          <a:prstGeom prst="roundRect">
            <a:avLst>
              <a:gd name="adj" fmla="val 3684"/>
            </a:avLst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33856" y="2761488"/>
            <a:ext cx="228600" cy="2286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2743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hal yang sudah aku pahami…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33856" y="3291840"/>
            <a:ext cx="228600" cy="2286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6192" y="32735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yang masih terasa sulit…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33856" y="3822192"/>
            <a:ext cx="228600" cy="2286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3803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aku bisa menerapkan BK sehari-hari?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33856" y="4352544"/>
            <a:ext cx="228600" cy="228600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36192" y="43342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yang paling sering aku gunakan…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1828800"/>
            <a:ext cx="429768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828800"/>
            <a:ext cx="64008" cy="1417320"/>
          </a:xfrm>
          <a:prstGeom prst="rect">
            <a:avLst/>
          </a:prstGeom>
          <a:solidFill>
            <a:srgbClr val="5577F7"/>
          </a:solidFill>
          <a:ln w="12700">
            <a:solidFill>
              <a:srgbClr val="5577F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3448" y="19659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PENGAYAAN • nilai ≥ KKTP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13448" y="237744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Kerjakan 5 esai HOTS, buat algoritma untuk masalah nyata di sekolah, atau menjadi tutor sebaya.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812280" y="3566160"/>
            <a:ext cx="429768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3566160"/>
            <a:ext cx="64008" cy="1417320"/>
          </a:xfrm>
          <a:prstGeom prst="rect">
            <a:avLst/>
          </a:prstGeom>
          <a:solidFill>
            <a:srgbClr val="F17662"/>
          </a:solidFill>
          <a:ln w="12700">
            <a:solidFill>
              <a:srgbClr val="F1766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13448" y="3703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REMEDIAL • nilai &lt; KKTP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41148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Ulangi konsep dengan peta konsep dan contoh terpandu, lanjutkan latihan dengan pendampingan.</a:t>
            </a:r>
            <a:endParaRPr lang="en-US" sz="112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5650992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Pahami → pecah → cari pola → ambil inti → susun algoritma → uji dan perbaiki.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BELAJAR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Rujukan yang tercantum dalam modul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sumber ini untuk memperdalam konsep dan menyiapkan aktivitas lanjutan.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786384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011680"/>
            <a:ext cx="411480" cy="411480"/>
          </a:xfrm>
          <a:prstGeom prst="ellipse">
            <a:avLst/>
          </a:prstGeom>
          <a:solidFill>
            <a:srgbClr val="E2F7F4"/>
          </a:solidFill>
          <a:ln w="12700">
            <a:solidFill>
              <a:srgbClr val="E2F7F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13055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91056" y="194767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Buku Informatika untuk SMA/MA Kelas XII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91056" y="22860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Kementerian Pendidikan, Kebudayaan, Riset, dan Teknologi (2022). Pusat Perbukuan.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786384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3154680"/>
            <a:ext cx="411480" cy="411480"/>
          </a:xfrm>
          <a:prstGeom prst="ellipse">
            <a:avLst/>
          </a:prstGeom>
          <a:solidFill>
            <a:srgbClr val="E9EDFF"/>
          </a:solidFill>
          <a:ln w="12700">
            <a:solidFill>
              <a:srgbClr val="E9ED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327355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7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91056" y="309067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Informatika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91056" y="34290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Kepala BSKAP Kemendikdasmen Nomor 046/H/KR/2025.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786384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4297680"/>
            <a:ext cx="411480" cy="411480"/>
          </a:xfrm>
          <a:prstGeom prst="ellipse">
            <a:avLst/>
          </a:prstGeom>
          <a:solidFill>
            <a:srgbClr val="FDE9E5"/>
          </a:solidFill>
          <a:ln w="12700">
            <a:solidFill>
              <a:srgbClr val="FDE9E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41655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76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423367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Thinking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91056" y="45720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Wing, J. M. (2006). Communications of the ACM, 49(3), 33–35.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194560" cy="3145536"/>
          </a:xfrm>
          <a:prstGeom prst="roundRect">
            <a:avLst>
              <a:gd name="adj" fmla="val 5833"/>
            </a:avLst>
          </a:prstGeom>
          <a:solidFill>
            <a:srgbClr val="0E2238"/>
          </a:solidFill>
          <a:ln w="12700">
            <a:solidFill>
              <a:srgbClr val="0E223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72600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JELAJAHI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Unplugged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108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2D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csunplugged.org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64040" y="3611880"/>
            <a:ext cx="1554480" cy="0"/>
          </a:xfrm>
          <a:prstGeom prst="line">
            <a:avLst/>
          </a:prstGeom>
          <a:noFill/>
          <a:ln w="15240">
            <a:solidFill>
              <a:srgbClr val="4260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Bahan bacaan modul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42611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Pengertian • manfaat • penerapan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5778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presentasi diringkas dan disusun berdasarkan modul ajar yang diunggah.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1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SMA Negeri Colomadu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Pengertian, Manfaat, dan Cara Berpikir Komputasional</dc:title>
  <dc:subject>Presentasi pembelajaran Informatika Kelas XII - Berpikir Komputasional</dc:subject>
  <dc:creator>Erwin Fajariansyah</dc:creator>
  <cp:lastModifiedBy>Erwin Fajariansyah</cp:lastModifiedBy>
  <cp:revision>1</cp:revision>
  <dcterms:created xsi:type="dcterms:W3CDTF">2026-10-21T03:28:33Z</dcterms:created>
  <dcterms:modified xsi:type="dcterms:W3CDTF">2026-10-21T03:28:33Z</dcterms:modified>
</cp:coreProperties>
</file>